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Sample</c:v>
                </c:pt>
              </c:strCache>
            </c:strRef>
          </c:tx>
          <c:spPr>
            <a:solidFill>
              <a:srgbClr val="1D4ED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C1</c:v>
                  </c:pt>
                  <c:pt idx="1">
                    <c:v>C2</c:v>
                  </c:pt>
                  <c:pt idx="2">
                    <c:v>C3</c:v>
                  </c:pt>
                  <c:pt idx="3">
                    <c:v>C4</c:v>
                  </c:pt>
                  <c:pt idx="4">
                    <c:v>C5</c:v>
                  </c:pt>
                </c:lvl>
              </c:multiLvlStrCache>
            </c:multiLvlStrRef>
          </c:cat>
          <c:val>
            <c:numRef>
              <c:f>Sheet1!$B$2:$B$6</c:f>
              <c:numCache>
                <c:formatCode>General</c:formatCode>
                <c:ptCount val="5"/>
                <c:pt idx="0">
                  <c:v>5</c:v>
                </c:pt>
                <c:pt idx="1">
                  <c:v>8</c:v>
                </c:pt>
                <c:pt idx="2">
                  <c:v>6</c:v>
                </c:pt>
                <c:pt idx="3">
                  <c:v>9</c:v>
                </c:pt>
                <c:pt idx="4">
                  <c:v>7</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Sample</c:v>
                </c:pt>
              </c:strCache>
            </c:strRef>
          </c:tx>
          <c:spPr>
            <a:solidFill>
              <a:srgbClr val="14B8A6"/>
            </a:solidFill>
            <a:ln w="25400" cap="flat">
              <a:solidFill>
                <a:srgbClr val="14B8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4B8A6"/>
              </a:solidFill>
              <a:ln w="9525" cap="flat">
                <a:solidFill>
                  <a:srgbClr val="14B8A6"/>
                </a:solidFill>
                <a:prstDash val="solid"/>
                <a:round/>
              </a:ln>
              <a:effectLst/>
            </c:spPr>
          </c:marker>
          <c:cat>
            <c:multiLvlStrRef>
              <c:f>Sheet1!$A$2:$A$7</c:f>
              <c:multiLvlStrCache>
                <c:ptCount val="6"/>
                <c:lvl>
                  <c:pt idx="0">
                    <c:v>C1</c:v>
                  </c:pt>
                  <c:pt idx="1">
                    <c:v>C2</c:v>
                  </c:pt>
                  <c:pt idx="2">
                    <c:v>C3</c:v>
                  </c:pt>
                  <c:pt idx="3">
                    <c:v>C4</c:v>
                  </c:pt>
                  <c:pt idx="4">
                    <c:v>C5</c:v>
                  </c:pt>
                  <c:pt idx="5">
                    <c:v>C6</c:v>
                  </c:pt>
                </c:lvl>
              </c:multiLvlStrCache>
            </c:multiLvlStrRef>
          </c:cat>
          <c:val>
            <c:numRef>
              <c:f>Sheet1!$B$2:$B$7</c:f>
              <c:numCache>
                <c:formatCode>General</c:formatCode>
                <c:ptCount val="6"/>
                <c:pt idx="0">
                  <c:v>3</c:v>
                </c:pt>
                <c:pt idx="1">
                  <c:v>5</c:v>
                </c:pt>
                <c:pt idx="2">
                  <c:v>4</c:v>
                </c:pt>
                <c:pt idx="3">
                  <c:v>7</c:v>
                </c:pt>
                <c:pt idx="4">
                  <c:v>6</c:v>
                </c:pt>
                <c:pt idx="5">
                  <c:v>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Good morning everyone. My project is called Student Performance and Assessment Analysis, and it belongs to the data analytics domain.
The goal was simple: take student assessment data, find patterns in how students performed, and show those insights through charts and an interactive dashboard.
The scope covers five steps: exploring the data, cleaning it, exploratory data analysis, SQL analysis, and building a dashboard.
I used Python with Pandas, Matplotlib and Seaborn for cleaning and charts, MySQL Workbench for SQL, and Power BI for the dashboard.
At the bottom you can see the full workflow. We start with the original file, abhiva_dataset.csv, clean it in Python, save a new cleaned_data.csv, and then use that cleaned file in MySQL Workbench and in Power BI. I will come back to this flow on every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This slide explains why the project exists.
On the left is the problem. Student assessment data holds a lot of information: marks, percentages, subjects, grades, attendance and teacher names. But in raw form it is just a large table, and it is hard to see patterns by looking at rows.
Systematic analysis solves this. It turns the table into something we can understand quickly.
On the right are my five objectives, and they follow the order of the project. First, explore and understand the dataset. Second, handle missing values and prepare the data. Third, analyze performance using Python and SQL. Fourth, create meaningful visualizations. Fifth, build an interactive Power BI dashboard.
So each objective is one step of the workflow, and the next slides show how I completed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This slide is about the data and how I prepared it.
The dataset is abhiva_dataset.csv. It originally had 20,000 records and 15 columns. After cleaning, 17,928 records remained in the final cleaned dataset. The key attributes include student ID and name, grade, subject, assessment and question IDs, total marks, marks obtained, percentage, attempt date, teacher name and attendance status.
Now the five preprocessing stages, from left to right.
One: I explored the structure and statistical summaries to understand the columns and values.
Two: I identified missing values and handled them. Missing data can make averages and counts unreliable, so this step matters.
Three: I checked for duplicate records, so the same record is not counted twice.
Four: I corrected data types, especially the date column, so that trends over time can be analyzed properly.
Five: I saved the result as a separate file called cleaned_data.csv. The original file stays untouched.
Why Python? Pandas is very good for inspecting and cleaning tabular data. And this cleaned file is the single source used in both MySQL Workbench and Power BI, which keeps every result consistent.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This slide covers the analysis, done in two ways: Python on the left, SQL on the right. Both use the same cleaned dataset, which is why the arrow connects them.
Python first. I created 10 visualizations using Matplotlib, Seaborn and Pandas. They look at subject-wise performance, attendance distribution, and the distribution of percentages. They also show performance trends over time, compare marks obtained with total marks, and examine grade-wise and teacher-wise performance. The two small charts here are only illustrative samples, to show the type of visual. They are not my project results. Python is the right tool here because it lets me explore quickly and see patterns visually.
Now SQL, using MySQL Workbench. After saving cleaned_data.csv, I imported it into MySQL. I used SELECT and WHERE to retrieve and filter data. ORDER BY and DISTINCT to sort and find unique values. COUNT, SUM, AVG, MIN and MAX for aggregations. And GROUP BY with HAVING for grouped analysis. The query on the slide is a simplified example of the idea: group records by subject and average the percentage.
Why both? Python gives visual exploration, while SQL shows I can query a database in a structured way. Together they confirm and complement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 minutes)
This is the most important slide: the interactive Power BI dashboard I built, Student Performance and Assessment Analytics. This is a screenshot of my actual dashboard.
Start at the top with the KPI cards: Total Records, Average of Percentage, Average Marks Obtained, Performance Rate and Attendance Rate. They give a quick summary of the whole dataset at a glance.
Below the cards are the filters: Grade, Teacher Name, Subject, Attempt Date and Attendance Status. When a user selects a value, every card and chart updates together. So a teacher or manager can ask, for example, how one subject or one teacher is performing, and see the answer immediately.
Then the performance analysis section has eight visuals. Average performance by grade, by subject and by teacher, so we can compare categories. The attendance status distribution. The percentage distribution. Total marks versus marks obtained. The overall performance rate gauge. And the monthly performance trend, which shows how performance moves over time.
Why Power BI? Static charts answer fixed questions. A dashboard lets users ask their own questions. It connects to the cleaned dataset, so the whole workflow ends here: raw data, cleaning in Python, SQL analysis, and finally interactive reporting.
The objective is simple: help users explore the data, compare categories and understand performance patterns on their own. If there is time, I can demonstrate the filters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15 seconds)
To close, I will cover the challenges, the outcomes and the conclusion.
Challenges. First, identifying and handling missing data, which needed careful checking. Second, keeping the right data types, especially dates. Third, importing the cleaned CSV into MySQL Workbench. Fourth, configuring Power BI visualizations and KPI cards. Solving each of these taught me something practical.
Deliverables. I produced four things: the cleaned dataset, cleaned_data.csv; a Python notebook for exploration, cleaning and visualization; SQL queries for retrieval and analysis; and the Power BI dashboard for interactive analysis.
Skills. Through this I practiced data preprocessing, exploratory data analysis, SQL querying and aggregation, data visualization and dashboard development.
In conclusion, the project demonstrates an end-to-end data analytics workflow. It starts with raw data preparation, moves through analysis and visualization, and ends with interactive reporting. Thank you. I am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3F6F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731520"/>
          </a:xfrm>
          <a:prstGeom prst="rect">
            <a:avLst/>
          </a:prstGeom>
          <a:noFill/>
          <a:ln/>
        </p:spPr>
        <p:txBody>
          <a:bodyPr wrap="square" rtlCol="0"/>
          <a:lstStyle>
            <a:lvl1pPr indent="0" marL="0">
              <a:buNone/>
              <a:defRPr lang="en-US" sz="3400" b="1" dirty="0">
                <a:solidFill>
                  <a:srgbClr val="0B1F3A"/>
                </a:solidFill>
                <a:latin typeface="Calibri" pitchFamily="34" charset="0"/>
                <a:ea typeface="Calibri" pitchFamily="34" charset="-122"/>
                <a:cs typeface="Calibri" pitchFamily="34" charset="-120"/>
              </a:defRPr>
            </a:lvl1pPr>
          </a:lstStyle>
          <a:p>
            <a:pPr indent="0" marL="0">
              <a:buNone/>
            </a:pPr>
            <a:endParaRPr lang="en-US" sz="3400" dirty="0"/>
          </a:p>
        </p:txBody>
      </p:sp>
      <p:sp>
        <p:nvSpPr>
          <p:cNvPr id="3"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Student Performance and Assessment Analysis  |  Data Analytics Project Evaluation</a:t>
            </a:r>
            <a:endParaRPr lang="en-US" sz="1100" dirty="0"/>
          </a:p>
        </p:txBody>
      </p:sp>
      <p:sp>
        <p:nvSpPr>
          <p:cNvPr id="25" name="Slide Number Placeholder 0"/>
          <p:cNvSpPr>
            <a:spLocks noGrp="1"/>
          </p:cNvSpPr>
          <p:nvPr>
            <p:ph type="sldNum" sz="quarter" idx="4294967295"/>
          </p:nvPr>
        </p:nvSpPr>
        <p:spPr>
          <a:xfrm>
            <a:off x="11155680" y="6419088"/>
            <a:ext cx="48463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1F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731520"/>
          </a:xfrm>
          <a:prstGeom prst="rect">
            <a:avLst/>
          </a:prstGeom>
          <a:noFill/>
          <a:ln/>
        </p:spPr>
        <p:txBody>
          <a:bodyPr wrap="square" rtlCol="0"/>
          <a:lstStyle>
            <a:lvl1pPr indent="0" marL="0">
              <a:buNone/>
              <a:defRPr lang="en-US" sz="3400" b="1" dirty="0">
                <a:solidFill>
                  <a:srgbClr val="FFFFFF"/>
                </a:solidFill>
                <a:latin typeface="Calibri" pitchFamily="34" charset="0"/>
                <a:ea typeface="Calibri" pitchFamily="34" charset="-122"/>
                <a:cs typeface="Calibri" pitchFamily="34" charset="-120"/>
              </a:defRPr>
            </a:lvl1pPr>
          </a:lstStyle>
          <a:p>
            <a:pPr indent="0" marL="0">
              <a:buNone/>
            </a:pPr>
            <a:endParaRPr lang="en-US" sz="3400" dirty="0"/>
          </a:p>
        </p:txBody>
      </p:sp>
      <p:sp>
        <p:nvSpPr>
          <p:cNvPr id="3"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Student Performance and Assessment Analysis  |  Data Analytics Project Evaluation</a:t>
            </a:r>
            <a:endParaRPr lang="en-US" sz="1100" dirty="0"/>
          </a:p>
        </p:txBody>
      </p:sp>
      <p:sp>
        <p:nvSpPr>
          <p:cNvPr id="25" name="Slide Number Placeholder 0"/>
          <p:cNvSpPr>
            <a:spLocks noGrp="1"/>
          </p:cNvSpPr>
          <p:nvPr>
            <p:ph type="sldNum" sz="quarter" idx="4294967295"/>
          </p:nvPr>
        </p:nvSpPr>
        <p:spPr>
          <a:xfrm>
            <a:off x="11155680" y="6419088"/>
            <a:ext cx="48463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4A3B8"/>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Student Performance and Assessment Analysis  |  Data Analytics Project Evaluation</a:t>
            </a:r>
            <a:endParaRPr lang="en-US" sz="1100" dirty="0"/>
          </a:p>
        </p:txBody>
      </p:sp>
      <p:sp>
        <p:nvSpPr>
          <p:cNvPr id="25" name="Slide Number Placeholder 0"/>
          <p:cNvSpPr>
            <a:spLocks noGrp="1"/>
          </p:cNvSpPr>
          <p:nvPr>
            <p:ph type="sldNum" sz="quarter" idx="4294967295"/>
          </p:nvPr>
        </p:nvSpPr>
        <p:spPr>
          <a:xfrm>
            <a:off x="11155680" y="6419088"/>
            <a:ext cx="48463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4A3B8"/>
                </a:solidFill>
                <a:latin typeface="Calibri"/>
                <a:ea typeface="Calibri"/>
                <a:cs typeface="Calibri"/>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8463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chart" Target="/ppt/charts/chart1.xml"/><Relationship Id="rId3" Type="http://schemas.openxmlformats.org/officeDocument/2006/relationships/chart" Target="/ppt/charts/chart2.xml"/><Relationship Id="rId1"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9326880" y="-1645920"/>
            <a:ext cx="4572000" cy="4572000"/>
          </a:xfrm>
          <a:prstGeom prst="ellipse">
            <a:avLst/>
          </a:prstGeom>
          <a:solidFill>
            <a:srgbClr val="1D4ED8">
              <a:alpha val="18000"/>
            </a:srgbClr>
          </a:solidFill>
          <a:ln w="12700">
            <a:solidFill>
              <a:srgbClr val="1D4ED8"/>
            </a:solidFill>
            <a:prstDash val="solid"/>
          </a:ln>
        </p:spPr>
      </p:sp>
      <p:sp>
        <p:nvSpPr>
          <p:cNvPr id="3" name="Shape 1"/>
          <p:cNvSpPr/>
          <p:nvPr/>
        </p:nvSpPr>
        <p:spPr>
          <a:xfrm>
            <a:off x="-1188720" y="4754880"/>
            <a:ext cx="2926080" cy="2926080"/>
          </a:xfrm>
          <a:prstGeom prst="ellipse">
            <a:avLst/>
          </a:prstGeom>
          <a:solidFill>
            <a:srgbClr val="14B8A6">
              <a:alpha val="12000"/>
            </a:srgbClr>
          </a:solidFill>
          <a:ln w="12700">
            <a:solidFill>
              <a:srgbClr val="14B8A6"/>
            </a:solidFill>
            <a:prstDash val="solid"/>
          </a:ln>
        </p:spPr>
      </p:sp>
      <p:sp>
        <p:nvSpPr>
          <p:cNvPr id="4" name="Shape 2"/>
          <p:cNvSpPr/>
          <p:nvPr/>
        </p:nvSpPr>
        <p:spPr>
          <a:xfrm>
            <a:off x="548640" y="594360"/>
            <a:ext cx="2377440" cy="347472"/>
          </a:xfrm>
          <a:prstGeom prst="roundRect">
            <a:avLst>
              <a:gd name="adj" fmla="val 26316"/>
            </a:avLst>
          </a:prstGeom>
          <a:solidFill>
            <a:srgbClr val="13305A"/>
          </a:solidFill>
          <a:ln w="12700">
            <a:solidFill>
              <a:srgbClr val="14B8A6"/>
            </a:solidFill>
            <a:prstDash val="solid"/>
          </a:ln>
        </p:spPr>
      </p:sp>
      <p:sp>
        <p:nvSpPr>
          <p:cNvPr id="5" name="Text 3"/>
          <p:cNvSpPr txBox="1"/>
          <p:nvPr/>
        </p:nvSpPr>
        <p:spPr>
          <a:xfrm>
            <a:off x="548640" y="594360"/>
            <a:ext cx="2377440" cy="347472"/>
          </a:xfrm>
          <a:prstGeom prst="rect">
            <a:avLst/>
          </a:prstGeom>
          <a:noFill/>
          <a:ln/>
        </p:spPr>
        <p:txBody>
          <a:bodyPr wrap="square" lIns="0" tIns="0" rIns="0" bIns="0" rtlCol="0" anchor="ctr"/>
          <a:lstStyle/>
          <a:p>
            <a:pPr algn="ctr" indent="0" marL="0">
              <a:buNone/>
            </a:pPr>
            <a:r>
              <a:rPr lang="en-US" sz="1100" b="1" dirty="0">
                <a:solidFill>
                  <a:srgbClr val="14B8A6"/>
                </a:solidFill>
                <a:latin typeface="Calibri" pitchFamily="34" charset="0"/>
                <a:ea typeface="Calibri" pitchFamily="34" charset="-122"/>
                <a:cs typeface="Calibri" pitchFamily="34" charset="-120"/>
              </a:rPr>
              <a:t>DOMAIN  |  DATA ANALYTICS</a:t>
            </a:r>
            <a:endParaRPr lang="en-US" sz="1100" dirty="0"/>
          </a:p>
        </p:txBody>
      </p:sp>
      <p:sp>
        <p:nvSpPr>
          <p:cNvPr id="6" name="Text 4"/>
          <p:cNvSpPr txBox="1"/>
          <p:nvPr/>
        </p:nvSpPr>
        <p:spPr>
          <a:xfrm>
            <a:off x="548640" y="1188720"/>
            <a:ext cx="6766560" cy="1645920"/>
          </a:xfrm>
          <a:prstGeom prst="rect">
            <a:avLst/>
          </a:prstGeom>
          <a:noFill/>
          <a:ln/>
        </p:spPr>
        <p:txBody>
          <a:bodyPr wrap="square" lIns="0" tIns="0" rIns="0" bIns="0"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Student Performance and Assessment Analysis</a:t>
            </a:r>
            <a:endParaRPr lang="en-US" sz="4400" dirty="0"/>
          </a:p>
        </p:txBody>
      </p:sp>
      <p:sp>
        <p:nvSpPr>
          <p:cNvPr id="7" name="Text 5"/>
          <p:cNvSpPr txBox="1"/>
          <p:nvPr/>
        </p:nvSpPr>
        <p:spPr>
          <a:xfrm>
            <a:off x="548640" y="3063240"/>
            <a:ext cx="4572000" cy="274320"/>
          </a:xfrm>
          <a:prstGeom prst="rect">
            <a:avLst/>
          </a:prstGeom>
          <a:noFill/>
          <a:ln/>
        </p:spPr>
        <p:txBody>
          <a:bodyPr wrap="square" lIns="0" tIns="0" rIns="0" bIns="0" rtlCol="0" anchor="t"/>
          <a:lstStyle/>
          <a:p>
            <a:pPr indent="0" marL="0">
              <a:buNone/>
            </a:pPr>
            <a:r>
              <a:rPr lang="en-US" sz="1200" b="1" dirty="0">
                <a:solidFill>
                  <a:srgbClr val="14B8A6"/>
                </a:solidFill>
                <a:latin typeface="Calibri" pitchFamily="34" charset="0"/>
                <a:ea typeface="Calibri" pitchFamily="34" charset="-122"/>
                <a:cs typeface="Calibri" pitchFamily="34" charset="-120"/>
              </a:rPr>
              <a:t>PROJECT OBJECTIVE</a:t>
            </a:r>
            <a:endParaRPr lang="en-US" sz="1200" dirty="0"/>
          </a:p>
        </p:txBody>
      </p:sp>
      <p:sp>
        <p:nvSpPr>
          <p:cNvPr id="8" name="Text 6"/>
          <p:cNvSpPr txBox="1"/>
          <p:nvPr/>
        </p:nvSpPr>
        <p:spPr>
          <a:xfrm>
            <a:off x="548640" y="3383280"/>
            <a:ext cx="6583680" cy="1188720"/>
          </a:xfrm>
          <a:prstGeom prst="rect">
            <a:avLst/>
          </a:prstGeom>
          <a:noFill/>
          <a:ln/>
        </p:spPr>
        <p:txBody>
          <a:bodyPr wrap="square" lIns="0" tIns="0" rIns="0" bIns="0" rtlCol="0" anchor="t"/>
          <a:lstStyle/>
          <a:p>
            <a:pPr indent="0" marL="0">
              <a:buNone/>
            </a:pPr>
            <a:r>
              <a:rPr lang="en-US" sz="1700" dirty="0">
                <a:solidFill>
                  <a:srgbClr val="DCE6F5"/>
                </a:solidFill>
                <a:latin typeface="Calibri" pitchFamily="34" charset="0"/>
                <a:ea typeface="Calibri" pitchFamily="34" charset="-122"/>
                <a:cs typeface="Calibri" pitchFamily="34" charset="-120"/>
              </a:rPr>
              <a:t>Analyze student assessment data, identify performance patterns, and present insights through visualizations and an interactive dashboard.</a:t>
            </a:r>
            <a:endParaRPr lang="en-US" sz="1700" dirty="0"/>
          </a:p>
        </p:txBody>
      </p:sp>
      <p:sp>
        <p:nvSpPr>
          <p:cNvPr id="9" name="Shape 7"/>
          <p:cNvSpPr/>
          <p:nvPr/>
        </p:nvSpPr>
        <p:spPr>
          <a:xfrm>
            <a:off x="7680960" y="777240"/>
            <a:ext cx="3959352" cy="2377440"/>
          </a:xfrm>
          <a:prstGeom prst="roundRect">
            <a:avLst>
              <a:gd name="adj" fmla="val 3846"/>
            </a:avLst>
          </a:prstGeom>
          <a:solidFill>
            <a:srgbClr val="13305A"/>
          </a:solidFill>
          <a:ln w="9525">
            <a:solidFill>
              <a:srgbClr val="2B4A7A"/>
            </a:solidFill>
            <a:prstDash val="solid"/>
          </a:ln>
        </p:spPr>
      </p:sp>
      <p:sp>
        <p:nvSpPr>
          <p:cNvPr id="10" name="Shape 8"/>
          <p:cNvSpPr/>
          <p:nvPr/>
        </p:nvSpPr>
        <p:spPr>
          <a:xfrm>
            <a:off x="7909560" y="960120"/>
            <a:ext cx="457200" cy="457200"/>
          </a:xfrm>
          <a:prstGeom prst="ellipse">
            <a:avLst/>
          </a:prstGeom>
          <a:solidFill>
            <a:srgbClr val="1D4ED8"/>
          </a:solidFill>
          <a:ln w="12700">
            <a:solidFill>
              <a:srgbClr val="1D4ED8"/>
            </a:solidFill>
            <a:prstDash val="solid"/>
          </a:ln>
        </p:spPr>
      </p:sp>
      <p:pic>
        <p:nvPicPr>
          <p:cNvPr id="11" name="Image 0" descr="preencoded.png">    </p:cNvPr>
          <p:cNvPicPr>
            <a:picLocks noChangeAspect="1"/>
          </p:cNvPicPr>
          <p:nvPr/>
        </p:nvPicPr>
        <p:blipFill>
          <a:blip r:embed="rId1"/>
          <a:stretch>
            <a:fillRect/>
          </a:stretch>
        </p:blipFill>
        <p:spPr>
          <a:xfrm>
            <a:off x="8023860" y="1074420"/>
            <a:ext cx="228600" cy="228600"/>
          </a:xfrm>
          <a:prstGeom prst="rect">
            <a:avLst/>
          </a:prstGeom>
        </p:spPr>
      </p:pic>
      <p:sp>
        <p:nvSpPr>
          <p:cNvPr id="12" name="Text 9"/>
          <p:cNvSpPr txBox="1"/>
          <p:nvPr/>
        </p:nvSpPr>
        <p:spPr>
          <a:xfrm>
            <a:off x="8503920" y="960120"/>
            <a:ext cx="2743200" cy="4572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Project scope</a:t>
            </a:r>
            <a:endParaRPr lang="en-US" sz="1800" dirty="0"/>
          </a:p>
        </p:txBody>
      </p:sp>
      <p:sp>
        <p:nvSpPr>
          <p:cNvPr id="13" name="Text 10"/>
          <p:cNvSpPr txBox="1"/>
          <p:nvPr/>
        </p:nvSpPr>
        <p:spPr>
          <a:xfrm>
            <a:off x="7909560" y="1600200"/>
            <a:ext cx="3566160" cy="14630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DCE6F5"/>
                </a:solidFill>
                <a:latin typeface="Calibri" pitchFamily="34" charset="0"/>
                <a:ea typeface="Calibri" pitchFamily="34" charset="-122"/>
                <a:cs typeface="Calibri" pitchFamily="34" charset="-120"/>
              </a:rPr>
              <a:t>Data exploration</a:t>
            </a:r>
            <a:endParaRPr lang="en-US" sz="1400" dirty="0"/>
          </a:p>
          <a:p>
            <a:pPr marL="342900" indent="-342900">
              <a:spcAft>
                <a:spcPts val="300"/>
              </a:spcAft>
              <a:buSzPct val="100000"/>
              <a:buChar char="•"/>
            </a:pPr>
            <a:r>
              <a:rPr lang="en-US" sz="1400" dirty="0">
                <a:solidFill>
                  <a:srgbClr val="DCE6F5"/>
                </a:solidFill>
                <a:latin typeface="Calibri" pitchFamily="34" charset="0"/>
                <a:ea typeface="Calibri" pitchFamily="34" charset="-122"/>
                <a:cs typeface="Calibri" pitchFamily="34" charset="-120"/>
              </a:rPr>
              <a:t>Preprocessing</a:t>
            </a:r>
            <a:endParaRPr lang="en-US" sz="1400" dirty="0"/>
          </a:p>
          <a:p>
            <a:pPr marL="342900" indent="-342900">
              <a:spcAft>
                <a:spcPts val="300"/>
              </a:spcAft>
              <a:buSzPct val="100000"/>
              <a:buChar char="•"/>
            </a:pPr>
            <a:r>
              <a:rPr lang="en-US" sz="1400" dirty="0">
                <a:solidFill>
                  <a:srgbClr val="DCE6F5"/>
                </a:solidFill>
                <a:latin typeface="Calibri" pitchFamily="34" charset="0"/>
                <a:ea typeface="Calibri" pitchFamily="34" charset="-122"/>
                <a:cs typeface="Calibri" pitchFamily="34" charset="-120"/>
              </a:rPr>
              <a:t>Exploratory data analysis</a:t>
            </a:r>
            <a:endParaRPr lang="en-US" sz="1400" dirty="0"/>
          </a:p>
          <a:p>
            <a:pPr marL="342900" indent="-342900">
              <a:spcAft>
                <a:spcPts val="300"/>
              </a:spcAft>
              <a:buSzPct val="100000"/>
              <a:buChar char="•"/>
            </a:pPr>
            <a:r>
              <a:rPr lang="en-US" sz="1400" dirty="0">
                <a:solidFill>
                  <a:srgbClr val="DCE6F5"/>
                </a:solidFill>
                <a:latin typeface="Calibri" pitchFamily="34" charset="0"/>
                <a:ea typeface="Calibri" pitchFamily="34" charset="-122"/>
                <a:cs typeface="Calibri" pitchFamily="34" charset="-120"/>
              </a:rPr>
              <a:t>SQL analysis</a:t>
            </a:r>
            <a:endParaRPr lang="en-US" sz="1400" dirty="0"/>
          </a:p>
          <a:p>
            <a:pPr marL="342900" indent="-342900">
              <a:spcAft>
                <a:spcPts val="300"/>
              </a:spcAft>
              <a:buSzPct val="100000"/>
              <a:buChar char="•"/>
            </a:pPr>
            <a:r>
              <a:rPr lang="en-US" sz="1400" dirty="0">
                <a:solidFill>
                  <a:srgbClr val="DCE6F5"/>
                </a:solidFill>
                <a:latin typeface="Calibri" pitchFamily="34" charset="0"/>
                <a:ea typeface="Calibri" pitchFamily="34" charset="-122"/>
                <a:cs typeface="Calibri" pitchFamily="34" charset="-120"/>
              </a:rPr>
              <a:t>Dashboard development</a:t>
            </a:r>
            <a:endParaRPr lang="en-US" sz="1400" dirty="0"/>
          </a:p>
        </p:txBody>
      </p:sp>
      <p:sp>
        <p:nvSpPr>
          <p:cNvPr id="14" name="Shape 11"/>
          <p:cNvSpPr/>
          <p:nvPr/>
        </p:nvSpPr>
        <p:spPr>
          <a:xfrm>
            <a:off x="7680960" y="3337560"/>
            <a:ext cx="3959352" cy="1691640"/>
          </a:xfrm>
          <a:prstGeom prst="roundRect">
            <a:avLst>
              <a:gd name="adj" fmla="val 5405"/>
            </a:avLst>
          </a:prstGeom>
          <a:solidFill>
            <a:srgbClr val="13305A"/>
          </a:solidFill>
          <a:ln w="9525">
            <a:solidFill>
              <a:srgbClr val="2B4A7A"/>
            </a:solidFill>
            <a:prstDash val="solid"/>
          </a:ln>
        </p:spPr>
      </p:sp>
      <p:sp>
        <p:nvSpPr>
          <p:cNvPr id="15" name="Shape 12"/>
          <p:cNvSpPr/>
          <p:nvPr/>
        </p:nvSpPr>
        <p:spPr>
          <a:xfrm>
            <a:off x="7909560" y="3474720"/>
            <a:ext cx="457200" cy="457200"/>
          </a:xfrm>
          <a:prstGeom prst="ellipse">
            <a:avLst/>
          </a:prstGeom>
          <a:solidFill>
            <a:srgbClr val="14B8A6"/>
          </a:solidFill>
          <a:ln w="12700">
            <a:solidFill>
              <a:srgbClr val="14B8A6"/>
            </a:solidFill>
            <a:prstDash val="solid"/>
          </a:ln>
        </p:spPr>
      </p:sp>
      <p:pic>
        <p:nvPicPr>
          <p:cNvPr id="16" name="Image 1" descr="preencoded.png">    </p:cNvPr>
          <p:cNvPicPr>
            <a:picLocks noChangeAspect="1"/>
          </p:cNvPicPr>
          <p:nvPr/>
        </p:nvPicPr>
        <p:blipFill>
          <a:blip r:embed="rId2"/>
          <a:stretch>
            <a:fillRect/>
          </a:stretch>
        </p:blipFill>
        <p:spPr>
          <a:xfrm>
            <a:off x="8023860" y="3589020"/>
            <a:ext cx="228600" cy="228600"/>
          </a:xfrm>
          <a:prstGeom prst="rect">
            <a:avLst/>
          </a:prstGeom>
        </p:spPr>
      </p:pic>
      <p:sp>
        <p:nvSpPr>
          <p:cNvPr id="17" name="Text 13"/>
          <p:cNvSpPr txBox="1"/>
          <p:nvPr/>
        </p:nvSpPr>
        <p:spPr>
          <a:xfrm>
            <a:off x="8503920" y="3474720"/>
            <a:ext cx="2743200" cy="4572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Technologies</a:t>
            </a:r>
            <a:endParaRPr lang="en-US" sz="1800" dirty="0"/>
          </a:p>
        </p:txBody>
      </p:sp>
      <p:sp>
        <p:nvSpPr>
          <p:cNvPr id="18" name="Shape 14"/>
          <p:cNvSpPr/>
          <p:nvPr/>
        </p:nvSpPr>
        <p:spPr>
          <a:xfrm>
            <a:off x="7909560" y="4069080"/>
            <a:ext cx="1737360" cy="246888"/>
          </a:xfrm>
          <a:prstGeom prst="roundRect">
            <a:avLst>
              <a:gd name="adj" fmla="val 37037"/>
            </a:avLst>
          </a:prstGeom>
          <a:solidFill>
            <a:srgbClr val="0B1F3A"/>
          </a:solidFill>
          <a:ln w="6350">
            <a:solidFill>
              <a:srgbClr val="2B4A7A"/>
            </a:solidFill>
            <a:prstDash val="solid"/>
          </a:ln>
        </p:spPr>
      </p:sp>
      <p:sp>
        <p:nvSpPr>
          <p:cNvPr id="19" name="Text 15"/>
          <p:cNvSpPr txBox="1"/>
          <p:nvPr/>
        </p:nvSpPr>
        <p:spPr>
          <a:xfrm>
            <a:off x="7909560" y="4069080"/>
            <a:ext cx="173736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Python</a:t>
            </a:r>
            <a:endParaRPr lang="en-US" sz="1100" dirty="0"/>
          </a:p>
        </p:txBody>
      </p:sp>
      <p:sp>
        <p:nvSpPr>
          <p:cNvPr id="20" name="Shape 16"/>
          <p:cNvSpPr/>
          <p:nvPr/>
        </p:nvSpPr>
        <p:spPr>
          <a:xfrm>
            <a:off x="9720072" y="4069080"/>
            <a:ext cx="1737360" cy="246888"/>
          </a:xfrm>
          <a:prstGeom prst="roundRect">
            <a:avLst>
              <a:gd name="adj" fmla="val 37037"/>
            </a:avLst>
          </a:prstGeom>
          <a:solidFill>
            <a:srgbClr val="0B1F3A"/>
          </a:solidFill>
          <a:ln w="6350">
            <a:solidFill>
              <a:srgbClr val="2B4A7A"/>
            </a:solidFill>
            <a:prstDash val="solid"/>
          </a:ln>
        </p:spPr>
      </p:sp>
      <p:sp>
        <p:nvSpPr>
          <p:cNvPr id="21" name="Text 17"/>
          <p:cNvSpPr txBox="1"/>
          <p:nvPr/>
        </p:nvSpPr>
        <p:spPr>
          <a:xfrm>
            <a:off x="9720072" y="4069080"/>
            <a:ext cx="173736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Pandas</a:t>
            </a:r>
            <a:endParaRPr lang="en-US" sz="1100" dirty="0"/>
          </a:p>
        </p:txBody>
      </p:sp>
      <p:sp>
        <p:nvSpPr>
          <p:cNvPr id="22" name="Shape 18"/>
          <p:cNvSpPr/>
          <p:nvPr/>
        </p:nvSpPr>
        <p:spPr>
          <a:xfrm>
            <a:off x="7909560" y="4361688"/>
            <a:ext cx="1737360" cy="246888"/>
          </a:xfrm>
          <a:prstGeom prst="roundRect">
            <a:avLst>
              <a:gd name="adj" fmla="val 37037"/>
            </a:avLst>
          </a:prstGeom>
          <a:solidFill>
            <a:srgbClr val="0B1F3A"/>
          </a:solidFill>
          <a:ln w="6350">
            <a:solidFill>
              <a:srgbClr val="2B4A7A"/>
            </a:solidFill>
            <a:prstDash val="solid"/>
          </a:ln>
        </p:spPr>
      </p:sp>
      <p:sp>
        <p:nvSpPr>
          <p:cNvPr id="23" name="Text 19"/>
          <p:cNvSpPr txBox="1"/>
          <p:nvPr/>
        </p:nvSpPr>
        <p:spPr>
          <a:xfrm>
            <a:off x="7909560" y="4361688"/>
            <a:ext cx="173736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Matplotlib</a:t>
            </a:r>
            <a:endParaRPr lang="en-US" sz="1100" dirty="0"/>
          </a:p>
        </p:txBody>
      </p:sp>
      <p:sp>
        <p:nvSpPr>
          <p:cNvPr id="24" name="Shape 20"/>
          <p:cNvSpPr/>
          <p:nvPr/>
        </p:nvSpPr>
        <p:spPr>
          <a:xfrm>
            <a:off x="9720072" y="4361688"/>
            <a:ext cx="1737360" cy="246888"/>
          </a:xfrm>
          <a:prstGeom prst="roundRect">
            <a:avLst>
              <a:gd name="adj" fmla="val 37037"/>
            </a:avLst>
          </a:prstGeom>
          <a:solidFill>
            <a:srgbClr val="0B1F3A"/>
          </a:solidFill>
          <a:ln w="6350">
            <a:solidFill>
              <a:srgbClr val="2B4A7A"/>
            </a:solidFill>
            <a:prstDash val="solid"/>
          </a:ln>
        </p:spPr>
      </p:sp>
      <p:sp>
        <p:nvSpPr>
          <p:cNvPr id="25" name="Text 21"/>
          <p:cNvSpPr txBox="1"/>
          <p:nvPr/>
        </p:nvSpPr>
        <p:spPr>
          <a:xfrm>
            <a:off x="9720072" y="4361688"/>
            <a:ext cx="173736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Seaborn</a:t>
            </a:r>
            <a:endParaRPr lang="en-US" sz="1100" dirty="0"/>
          </a:p>
        </p:txBody>
      </p:sp>
      <p:sp>
        <p:nvSpPr>
          <p:cNvPr id="26" name="Shape 22"/>
          <p:cNvSpPr/>
          <p:nvPr/>
        </p:nvSpPr>
        <p:spPr>
          <a:xfrm>
            <a:off x="7909560" y="4654296"/>
            <a:ext cx="1737360" cy="246888"/>
          </a:xfrm>
          <a:prstGeom prst="roundRect">
            <a:avLst>
              <a:gd name="adj" fmla="val 37037"/>
            </a:avLst>
          </a:prstGeom>
          <a:solidFill>
            <a:srgbClr val="0B1F3A"/>
          </a:solidFill>
          <a:ln w="6350">
            <a:solidFill>
              <a:srgbClr val="2B4A7A"/>
            </a:solidFill>
            <a:prstDash val="solid"/>
          </a:ln>
        </p:spPr>
      </p:sp>
      <p:sp>
        <p:nvSpPr>
          <p:cNvPr id="27" name="Text 23"/>
          <p:cNvSpPr txBox="1"/>
          <p:nvPr/>
        </p:nvSpPr>
        <p:spPr>
          <a:xfrm>
            <a:off x="7909560" y="4654296"/>
            <a:ext cx="173736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MySQL Workbench</a:t>
            </a:r>
            <a:endParaRPr lang="en-US" sz="1100" dirty="0"/>
          </a:p>
        </p:txBody>
      </p:sp>
      <p:sp>
        <p:nvSpPr>
          <p:cNvPr id="28" name="Shape 24"/>
          <p:cNvSpPr/>
          <p:nvPr/>
        </p:nvSpPr>
        <p:spPr>
          <a:xfrm>
            <a:off x="9720072" y="4654296"/>
            <a:ext cx="1737360" cy="246888"/>
          </a:xfrm>
          <a:prstGeom prst="roundRect">
            <a:avLst>
              <a:gd name="adj" fmla="val 37037"/>
            </a:avLst>
          </a:prstGeom>
          <a:solidFill>
            <a:srgbClr val="0B1F3A"/>
          </a:solidFill>
          <a:ln w="6350">
            <a:solidFill>
              <a:srgbClr val="2B4A7A"/>
            </a:solidFill>
            <a:prstDash val="solid"/>
          </a:ln>
        </p:spPr>
      </p:sp>
      <p:sp>
        <p:nvSpPr>
          <p:cNvPr id="29" name="Text 25"/>
          <p:cNvSpPr txBox="1"/>
          <p:nvPr/>
        </p:nvSpPr>
        <p:spPr>
          <a:xfrm>
            <a:off x="9720072" y="4654296"/>
            <a:ext cx="173736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Power BI</a:t>
            </a:r>
            <a:endParaRPr lang="en-US" sz="1100" dirty="0"/>
          </a:p>
        </p:txBody>
      </p:sp>
      <p:sp>
        <p:nvSpPr>
          <p:cNvPr id="30" name="Text 26"/>
          <p:cNvSpPr txBox="1"/>
          <p:nvPr/>
        </p:nvSpPr>
        <p:spPr>
          <a:xfrm>
            <a:off x="548640" y="5166360"/>
            <a:ext cx="5486400" cy="228600"/>
          </a:xfrm>
          <a:prstGeom prst="rect">
            <a:avLst/>
          </a:prstGeom>
          <a:noFill/>
          <a:ln/>
        </p:spPr>
        <p:txBody>
          <a:bodyPr wrap="square" lIns="0" tIns="0" rIns="0" bIns="0" rtlCol="0" anchor="t"/>
          <a:lstStyle/>
          <a:p>
            <a:pPr indent="0" marL="0">
              <a:buNone/>
            </a:pPr>
            <a:r>
              <a:rPr lang="en-US" sz="1100" b="1" dirty="0">
                <a:solidFill>
                  <a:srgbClr val="94A3B8"/>
                </a:solidFill>
                <a:latin typeface="Calibri" pitchFamily="34" charset="0"/>
                <a:ea typeface="Calibri" pitchFamily="34" charset="-122"/>
                <a:cs typeface="Calibri" pitchFamily="34" charset="-120"/>
              </a:rPr>
              <a:t>END-TO-END PROJECT WORKFLOW</a:t>
            </a:r>
            <a:endParaRPr lang="en-US" sz="1100" dirty="0"/>
          </a:p>
        </p:txBody>
      </p:sp>
      <p:sp>
        <p:nvSpPr>
          <p:cNvPr id="31" name="Shape 27"/>
          <p:cNvSpPr/>
          <p:nvPr/>
        </p:nvSpPr>
        <p:spPr>
          <a:xfrm>
            <a:off x="548640" y="5440680"/>
            <a:ext cx="1998878" cy="731520"/>
          </a:xfrm>
          <a:prstGeom prst="roundRect">
            <a:avLst>
              <a:gd name="adj" fmla="val 12500"/>
            </a:avLst>
          </a:prstGeom>
          <a:solidFill>
            <a:srgbClr val="13305A"/>
          </a:solidFill>
          <a:ln w="9525">
            <a:solidFill>
              <a:srgbClr val="2B4A7A"/>
            </a:solidFill>
            <a:prstDash val="solid"/>
          </a:ln>
        </p:spPr>
      </p:sp>
      <p:sp>
        <p:nvSpPr>
          <p:cNvPr id="32" name="Text 28"/>
          <p:cNvSpPr txBox="1"/>
          <p:nvPr/>
        </p:nvSpPr>
        <p:spPr>
          <a:xfrm>
            <a:off x="548640" y="5440680"/>
            <a:ext cx="1998878"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Original Dataset</a:t>
            </a:r>
            <a:endParaRPr lang="en-US" sz="1400" dirty="0"/>
          </a:p>
          <a:p>
            <a:pPr algn="ctr" indent="0" marL="0">
              <a:buNone/>
            </a:pPr>
            <a:r>
              <a:rPr lang="en-US" sz="1200" dirty="0">
                <a:solidFill>
                  <a:srgbClr val="9FB3D1"/>
                </a:solidFill>
                <a:latin typeface="Calibri" pitchFamily="34" charset="0"/>
                <a:ea typeface="Calibri" pitchFamily="34" charset="-122"/>
                <a:cs typeface="Calibri" pitchFamily="34" charset="-120"/>
              </a:rPr>
              <a:t>abhiva_dataset.csv</a:t>
            </a:r>
            <a:endParaRPr lang="en-US" sz="1400" dirty="0"/>
          </a:p>
        </p:txBody>
      </p:sp>
      <p:sp>
        <p:nvSpPr>
          <p:cNvPr id="33" name="Shape 29"/>
          <p:cNvSpPr/>
          <p:nvPr/>
        </p:nvSpPr>
        <p:spPr>
          <a:xfrm>
            <a:off x="2584094" y="5705856"/>
            <a:ext cx="201168" cy="201168"/>
          </a:xfrm>
          <a:prstGeom prst="rightArrow">
            <a:avLst/>
          </a:prstGeom>
          <a:solidFill>
            <a:srgbClr val="94A3B8"/>
          </a:solidFill>
          <a:ln w="12700">
            <a:solidFill>
              <a:srgbClr val="94A3B8"/>
            </a:solidFill>
            <a:prstDash val="solid"/>
          </a:ln>
        </p:spPr>
      </p:sp>
      <p:sp>
        <p:nvSpPr>
          <p:cNvPr id="34" name="Shape 30"/>
          <p:cNvSpPr/>
          <p:nvPr/>
        </p:nvSpPr>
        <p:spPr>
          <a:xfrm>
            <a:off x="2821838" y="5440680"/>
            <a:ext cx="1998878" cy="731520"/>
          </a:xfrm>
          <a:prstGeom prst="roundRect">
            <a:avLst>
              <a:gd name="adj" fmla="val 12500"/>
            </a:avLst>
          </a:prstGeom>
          <a:solidFill>
            <a:srgbClr val="13305A"/>
          </a:solidFill>
          <a:ln w="9525">
            <a:solidFill>
              <a:srgbClr val="2B4A7A"/>
            </a:solidFill>
            <a:prstDash val="solid"/>
          </a:ln>
        </p:spPr>
      </p:sp>
      <p:sp>
        <p:nvSpPr>
          <p:cNvPr id="35" name="Text 31"/>
          <p:cNvSpPr txBox="1"/>
          <p:nvPr/>
        </p:nvSpPr>
        <p:spPr>
          <a:xfrm>
            <a:off x="2821838" y="5440680"/>
            <a:ext cx="1998878"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Python Exploration</a:t>
            </a:r>
            <a:endParaRPr lang="en-US" sz="1400" dirty="0"/>
          </a:p>
          <a:p>
            <a:pPr algn="ctr" indent="0" marL="0">
              <a:buNone/>
            </a:pPr>
            <a:r>
              <a:rPr lang="en-US" sz="1200" dirty="0">
                <a:solidFill>
                  <a:srgbClr val="9FB3D1"/>
                </a:solidFill>
                <a:latin typeface="Calibri" pitchFamily="34" charset="0"/>
                <a:ea typeface="Calibri" pitchFamily="34" charset="-122"/>
                <a:cs typeface="Calibri" pitchFamily="34" charset="-120"/>
              </a:rPr>
              <a:t>and Cleaning</a:t>
            </a:r>
            <a:endParaRPr lang="en-US" sz="1400" dirty="0"/>
          </a:p>
        </p:txBody>
      </p:sp>
      <p:sp>
        <p:nvSpPr>
          <p:cNvPr id="36" name="Shape 32"/>
          <p:cNvSpPr/>
          <p:nvPr/>
        </p:nvSpPr>
        <p:spPr>
          <a:xfrm>
            <a:off x="4857293" y="5705856"/>
            <a:ext cx="201168" cy="201168"/>
          </a:xfrm>
          <a:prstGeom prst="rightArrow">
            <a:avLst/>
          </a:prstGeom>
          <a:solidFill>
            <a:srgbClr val="94A3B8"/>
          </a:solidFill>
          <a:ln w="12700">
            <a:solidFill>
              <a:srgbClr val="94A3B8"/>
            </a:solidFill>
            <a:prstDash val="solid"/>
          </a:ln>
        </p:spPr>
      </p:sp>
      <p:sp>
        <p:nvSpPr>
          <p:cNvPr id="37" name="Shape 33"/>
          <p:cNvSpPr/>
          <p:nvPr/>
        </p:nvSpPr>
        <p:spPr>
          <a:xfrm>
            <a:off x="5095037" y="5440680"/>
            <a:ext cx="1998878" cy="731520"/>
          </a:xfrm>
          <a:prstGeom prst="roundRect">
            <a:avLst>
              <a:gd name="adj" fmla="val 12500"/>
            </a:avLst>
          </a:prstGeom>
          <a:solidFill>
            <a:srgbClr val="13305A"/>
          </a:solidFill>
          <a:ln w="9525">
            <a:solidFill>
              <a:srgbClr val="2B4A7A"/>
            </a:solidFill>
            <a:prstDash val="solid"/>
          </a:ln>
        </p:spPr>
      </p:sp>
      <p:sp>
        <p:nvSpPr>
          <p:cNvPr id="38" name="Text 34"/>
          <p:cNvSpPr txBox="1"/>
          <p:nvPr/>
        </p:nvSpPr>
        <p:spPr>
          <a:xfrm>
            <a:off x="5095037" y="5440680"/>
            <a:ext cx="1998878"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Cleaned Dataset</a:t>
            </a:r>
            <a:endParaRPr lang="en-US" sz="1400" dirty="0"/>
          </a:p>
          <a:p>
            <a:pPr algn="ctr" indent="0" marL="0">
              <a:buNone/>
            </a:pPr>
            <a:r>
              <a:rPr lang="en-US" sz="1200" dirty="0">
                <a:solidFill>
                  <a:srgbClr val="9FB3D1"/>
                </a:solidFill>
                <a:latin typeface="Calibri" pitchFamily="34" charset="0"/>
                <a:ea typeface="Calibri" pitchFamily="34" charset="-122"/>
                <a:cs typeface="Calibri" pitchFamily="34" charset="-120"/>
              </a:rPr>
              <a:t>cleaned_data.csv</a:t>
            </a:r>
            <a:endParaRPr lang="en-US" sz="1400" dirty="0"/>
          </a:p>
        </p:txBody>
      </p:sp>
      <p:sp>
        <p:nvSpPr>
          <p:cNvPr id="39" name="Shape 35"/>
          <p:cNvSpPr/>
          <p:nvPr/>
        </p:nvSpPr>
        <p:spPr>
          <a:xfrm>
            <a:off x="7130491" y="5705856"/>
            <a:ext cx="201168" cy="201168"/>
          </a:xfrm>
          <a:prstGeom prst="rightArrow">
            <a:avLst/>
          </a:prstGeom>
          <a:solidFill>
            <a:srgbClr val="94A3B8"/>
          </a:solidFill>
          <a:ln w="12700">
            <a:solidFill>
              <a:srgbClr val="94A3B8"/>
            </a:solidFill>
            <a:prstDash val="solid"/>
          </a:ln>
        </p:spPr>
      </p:sp>
      <p:sp>
        <p:nvSpPr>
          <p:cNvPr id="40" name="Shape 36"/>
          <p:cNvSpPr/>
          <p:nvPr/>
        </p:nvSpPr>
        <p:spPr>
          <a:xfrm>
            <a:off x="7368235" y="5440680"/>
            <a:ext cx="1998878" cy="731520"/>
          </a:xfrm>
          <a:prstGeom prst="roundRect">
            <a:avLst>
              <a:gd name="adj" fmla="val 12500"/>
            </a:avLst>
          </a:prstGeom>
          <a:solidFill>
            <a:srgbClr val="13305A"/>
          </a:solidFill>
          <a:ln w="9525">
            <a:solidFill>
              <a:srgbClr val="2B4A7A"/>
            </a:solidFill>
            <a:prstDash val="solid"/>
          </a:ln>
        </p:spPr>
      </p:sp>
      <p:sp>
        <p:nvSpPr>
          <p:cNvPr id="41" name="Text 37"/>
          <p:cNvSpPr txBox="1"/>
          <p:nvPr/>
        </p:nvSpPr>
        <p:spPr>
          <a:xfrm>
            <a:off x="7368235" y="5440680"/>
            <a:ext cx="1998878"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MySQL Workbench</a:t>
            </a:r>
            <a:endParaRPr lang="en-US" sz="1400" dirty="0"/>
          </a:p>
          <a:p>
            <a:pPr algn="ctr" indent="0" marL="0">
              <a:buNone/>
            </a:pPr>
            <a:r>
              <a:rPr lang="en-US" sz="1200" dirty="0">
                <a:solidFill>
                  <a:srgbClr val="9FB3D1"/>
                </a:solidFill>
                <a:latin typeface="Calibri" pitchFamily="34" charset="0"/>
                <a:ea typeface="Calibri" pitchFamily="34" charset="-122"/>
                <a:cs typeface="Calibri" pitchFamily="34" charset="-120"/>
              </a:rPr>
              <a:t>SQL Analysis</a:t>
            </a:r>
            <a:endParaRPr lang="en-US" sz="1400" dirty="0"/>
          </a:p>
        </p:txBody>
      </p:sp>
      <p:sp>
        <p:nvSpPr>
          <p:cNvPr id="42" name="Shape 38"/>
          <p:cNvSpPr/>
          <p:nvPr/>
        </p:nvSpPr>
        <p:spPr>
          <a:xfrm>
            <a:off x="9403690" y="5705856"/>
            <a:ext cx="201168" cy="201168"/>
          </a:xfrm>
          <a:prstGeom prst="rightArrow">
            <a:avLst/>
          </a:prstGeom>
          <a:solidFill>
            <a:srgbClr val="94A3B8"/>
          </a:solidFill>
          <a:ln w="12700">
            <a:solidFill>
              <a:srgbClr val="94A3B8"/>
            </a:solidFill>
            <a:prstDash val="solid"/>
          </a:ln>
        </p:spPr>
      </p:sp>
      <p:sp>
        <p:nvSpPr>
          <p:cNvPr id="43" name="Shape 39"/>
          <p:cNvSpPr/>
          <p:nvPr/>
        </p:nvSpPr>
        <p:spPr>
          <a:xfrm>
            <a:off x="9641434" y="5440680"/>
            <a:ext cx="1998878" cy="731520"/>
          </a:xfrm>
          <a:prstGeom prst="roundRect">
            <a:avLst>
              <a:gd name="adj" fmla="val 12500"/>
            </a:avLst>
          </a:prstGeom>
          <a:solidFill>
            <a:srgbClr val="13305A"/>
          </a:solidFill>
          <a:ln w="9525">
            <a:solidFill>
              <a:srgbClr val="2B4A7A"/>
            </a:solidFill>
            <a:prstDash val="solid"/>
          </a:ln>
        </p:spPr>
      </p:sp>
      <p:sp>
        <p:nvSpPr>
          <p:cNvPr id="44" name="Text 40"/>
          <p:cNvSpPr txBox="1"/>
          <p:nvPr/>
        </p:nvSpPr>
        <p:spPr>
          <a:xfrm>
            <a:off x="9641434" y="5440680"/>
            <a:ext cx="1998878"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Power BI</a:t>
            </a:r>
            <a:endParaRPr lang="en-US" sz="1400" dirty="0"/>
          </a:p>
          <a:p>
            <a:pPr algn="ctr" indent="0" marL="0">
              <a:buNone/>
            </a:pPr>
            <a:r>
              <a:rPr lang="en-US" sz="1200" dirty="0">
                <a:solidFill>
                  <a:srgbClr val="9FB3D1"/>
                </a:solidFill>
                <a:latin typeface="Calibri" pitchFamily="34" charset="0"/>
                <a:ea typeface="Calibri" pitchFamily="34" charset="-122"/>
                <a:cs typeface="Calibri" pitchFamily="34" charset="-120"/>
              </a:rPr>
              <a:t>Interactive Dashboard</a:t>
            </a:r>
            <a:endParaRPr lang="en-US" sz="1400" dirty="0"/>
          </a:p>
        </p:txBody>
      </p:sp>
      <p:sp>
        <p:nvSpPr>
          <p:cNvPr id="25" name="Slide Number Placeholder 0"/>
          <p:cNvSpPr>
            <a:spLocks noGrp="1"/>
          </p:cNvSpPr>
          <p:nvPr>
            <p:ph type="sldNum" sz="quarter" idx="4294967295"/>
          </p:nvPr>
        </p:nvSpPr>
        <p:spPr>
          <a:xfrm>
            <a:off x="11155680" y="6419088"/>
            <a:ext cx="48463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4A3B8"/>
                </a:solidFill>
                <a:latin typeface="Calibri"/>
                <a:ea typeface="Calibri"/>
                <a:cs typeface="Calibri"/>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731520"/>
          </a:xfrm>
          <a:prstGeom prst="rect">
            <a:avLst/>
          </a:prstGeom>
          <a:noFill/>
          <a:ln/>
        </p:spPr>
        <p:txBody>
          <a:bodyPr wrap="square" lIns="0" tIns="0" rIns="0" bIns="0" rtlCol="0" anchor="ctr"/>
          <a:lstStyle/>
          <a:p>
            <a:pPr indent="0" marL="0">
              <a:buNone/>
            </a:pPr>
            <a:r>
              <a:rPr lang="en-US" sz="3400" b="1" dirty="0">
                <a:solidFill>
                  <a:srgbClr val="0B1F3A"/>
                </a:solidFill>
                <a:latin typeface="Calibri" pitchFamily="34" charset="0"/>
                <a:ea typeface="Calibri" pitchFamily="34" charset="-122"/>
                <a:cs typeface="Calibri" pitchFamily="34" charset="-120"/>
              </a:rPr>
              <a:t>Problem Statement and Objectives</a:t>
            </a:r>
            <a:endParaRPr lang="en-US" sz="3400" dirty="0"/>
          </a:p>
        </p:txBody>
      </p:sp>
      <p:sp>
        <p:nvSpPr>
          <p:cNvPr id="3" name="Shape 1"/>
          <p:cNvSpPr/>
          <p:nvPr/>
        </p:nvSpPr>
        <p:spPr>
          <a:xfrm>
            <a:off x="548640" y="1280160"/>
            <a:ext cx="4572000" cy="4389120"/>
          </a:xfrm>
          <a:prstGeom prst="roundRect">
            <a:avLst>
              <a:gd name="adj" fmla="val 2083"/>
            </a:avLst>
          </a:prstGeom>
          <a:solidFill>
            <a:srgbClr val="FFFFFF"/>
          </a:solidFill>
          <a:ln w="12700">
            <a:solidFill>
              <a:srgbClr val="FFFFFF"/>
            </a:solidFill>
            <a:prstDash val="solid"/>
          </a:ln>
          <a:effectLst>
            <a:outerShdw sx="100000" sy="100000" kx="0" ky="0" algn="bl" rotWithShape="0" blurRad="76200" dist="25400" dir="5400000">
              <a:srgbClr val="0F172A">
                <a:alpha val="12000"/>
              </a:srgbClr>
            </a:outerShdw>
          </a:effectLst>
        </p:spPr>
      </p:sp>
      <p:sp>
        <p:nvSpPr>
          <p:cNvPr id="4" name="Shape 2"/>
          <p:cNvSpPr/>
          <p:nvPr/>
        </p:nvSpPr>
        <p:spPr>
          <a:xfrm>
            <a:off x="822960" y="1508760"/>
            <a:ext cx="548640" cy="548640"/>
          </a:xfrm>
          <a:prstGeom prst="ellipse">
            <a:avLst/>
          </a:prstGeom>
          <a:solidFill>
            <a:srgbClr val="1D4ED8"/>
          </a:solidFill>
          <a:ln w="12700">
            <a:solidFill>
              <a:srgbClr val="1D4ED8"/>
            </a:solidFill>
            <a:prstDash val="solid"/>
          </a:ln>
        </p:spPr>
      </p:sp>
      <p:pic>
        <p:nvPicPr>
          <p:cNvPr id="5" name="Image 0" descr="preencoded.png">    </p:cNvPr>
          <p:cNvPicPr>
            <a:picLocks noChangeAspect="1"/>
          </p:cNvPicPr>
          <p:nvPr/>
        </p:nvPicPr>
        <p:blipFill>
          <a:blip r:embed="rId1"/>
          <a:stretch>
            <a:fillRect/>
          </a:stretch>
        </p:blipFill>
        <p:spPr>
          <a:xfrm>
            <a:off x="960120" y="1645920"/>
            <a:ext cx="274320" cy="274320"/>
          </a:xfrm>
          <a:prstGeom prst="rect">
            <a:avLst/>
          </a:prstGeom>
        </p:spPr>
      </p:pic>
      <p:sp>
        <p:nvSpPr>
          <p:cNvPr id="6" name="Text 3"/>
          <p:cNvSpPr txBox="1"/>
          <p:nvPr/>
        </p:nvSpPr>
        <p:spPr>
          <a:xfrm>
            <a:off x="1508760" y="1508760"/>
            <a:ext cx="3200400" cy="548640"/>
          </a:xfrm>
          <a:prstGeom prst="rect">
            <a:avLst/>
          </a:prstGeom>
          <a:noFill/>
          <a:ln/>
        </p:spPr>
        <p:txBody>
          <a:bodyPr wrap="square" lIns="0" tIns="0" rIns="0" bIns="0" rtlCol="0" anchor="ctr"/>
          <a:lstStyle/>
          <a:p>
            <a:pPr indent="0" marL="0">
              <a:buNone/>
            </a:pPr>
            <a:r>
              <a:rPr lang="en-US" sz="2200" b="1" dirty="0">
                <a:solidFill>
                  <a:srgbClr val="0B1F3A"/>
                </a:solidFill>
                <a:latin typeface="Calibri" pitchFamily="34" charset="0"/>
                <a:ea typeface="Calibri" pitchFamily="34" charset="-122"/>
                <a:cs typeface="Calibri" pitchFamily="34" charset="-120"/>
              </a:rPr>
              <a:t>The Problem</a:t>
            </a:r>
            <a:endParaRPr lang="en-US" sz="2200" dirty="0"/>
          </a:p>
        </p:txBody>
      </p:sp>
      <p:sp>
        <p:nvSpPr>
          <p:cNvPr id="7" name="Text 4"/>
          <p:cNvSpPr txBox="1"/>
          <p:nvPr/>
        </p:nvSpPr>
        <p:spPr>
          <a:xfrm>
            <a:off x="822960" y="2331720"/>
            <a:ext cx="4023360" cy="1463040"/>
          </a:xfrm>
          <a:prstGeom prst="rect">
            <a:avLst/>
          </a:prstGeom>
          <a:noFill/>
          <a:ln/>
        </p:spPr>
        <p:txBody>
          <a:bodyPr wrap="square" lIns="0" tIns="0" rIns="0" bIns="0" rtlCol="0" anchor="t"/>
          <a:lstStyle/>
          <a:p>
            <a:pPr indent="0" marL="0">
              <a:buNone/>
            </a:pPr>
            <a:r>
              <a:rPr lang="en-US" sz="1600" dirty="0">
                <a:solidFill>
                  <a:srgbClr val="0F172A"/>
                </a:solidFill>
                <a:latin typeface="Calibri" pitchFamily="34" charset="0"/>
                <a:ea typeface="Calibri" pitchFamily="34" charset="-122"/>
                <a:cs typeface="Calibri" pitchFamily="34" charset="-120"/>
              </a:rPr>
              <a:t>Student assessment datasets contain marks, percentages, subjects, grades, attendance, and teachers.</a:t>
            </a:r>
            <a:endParaRPr lang="en-US" sz="1600" dirty="0"/>
          </a:p>
        </p:txBody>
      </p:sp>
      <p:sp>
        <p:nvSpPr>
          <p:cNvPr id="8" name="Text 5"/>
          <p:cNvSpPr txBox="1"/>
          <p:nvPr/>
        </p:nvSpPr>
        <p:spPr>
          <a:xfrm>
            <a:off x="822960" y="3840480"/>
            <a:ext cx="4023360" cy="1463040"/>
          </a:xfrm>
          <a:prstGeom prst="rect">
            <a:avLst/>
          </a:prstGeom>
          <a:noFill/>
          <a:ln/>
        </p:spPr>
        <p:txBody>
          <a:bodyPr wrap="square" lIns="0" tIns="0" rIns="0" bIns="0" rtlCol="0" anchor="t"/>
          <a:lstStyle/>
          <a:p>
            <a:pPr indent="0" marL="0">
              <a:buNone/>
            </a:pPr>
            <a:r>
              <a:rPr lang="en-US" sz="1600" dirty="0">
                <a:solidFill>
                  <a:srgbClr val="0F172A"/>
                </a:solidFill>
                <a:latin typeface="Calibri" pitchFamily="34" charset="0"/>
                <a:ea typeface="Calibri" pitchFamily="34" charset="-122"/>
                <a:cs typeface="Calibri" pitchFamily="34" charset="-120"/>
              </a:rPr>
              <a:t>Systematic analysis helps identify performance patterns and makes the data easier to understand.</a:t>
            </a:r>
            <a:endParaRPr lang="en-US" sz="1600" dirty="0"/>
          </a:p>
        </p:txBody>
      </p:sp>
      <p:sp>
        <p:nvSpPr>
          <p:cNvPr id="9" name="Shape 6"/>
          <p:cNvSpPr/>
          <p:nvPr/>
        </p:nvSpPr>
        <p:spPr>
          <a:xfrm>
            <a:off x="5212080" y="3154680"/>
            <a:ext cx="548640" cy="548640"/>
          </a:xfrm>
          <a:prstGeom prst="ellipse">
            <a:avLst/>
          </a:prstGeom>
          <a:solidFill>
            <a:srgbClr val="14B8A6"/>
          </a:solidFill>
          <a:ln w="12700">
            <a:solidFill>
              <a:srgbClr val="14B8A6"/>
            </a:solidFill>
            <a:prstDash val="solid"/>
          </a:ln>
        </p:spPr>
      </p:sp>
      <p:pic>
        <p:nvPicPr>
          <p:cNvPr id="10" name="Image 1" descr="preencoded.png">    </p:cNvPr>
          <p:cNvPicPr>
            <a:picLocks noChangeAspect="1"/>
          </p:cNvPicPr>
          <p:nvPr/>
        </p:nvPicPr>
        <p:blipFill>
          <a:blip r:embed="rId2"/>
          <a:stretch>
            <a:fillRect/>
          </a:stretch>
        </p:blipFill>
        <p:spPr>
          <a:xfrm>
            <a:off x="5349240" y="3291840"/>
            <a:ext cx="274320" cy="274320"/>
          </a:xfrm>
          <a:prstGeom prst="rect">
            <a:avLst/>
          </a:prstGeom>
        </p:spPr>
      </p:pic>
      <p:sp>
        <p:nvSpPr>
          <p:cNvPr id="11" name="Shape 7"/>
          <p:cNvSpPr/>
          <p:nvPr/>
        </p:nvSpPr>
        <p:spPr>
          <a:xfrm>
            <a:off x="5852160" y="1280160"/>
            <a:ext cx="5788152" cy="4389120"/>
          </a:xfrm>
          <a:prstGeom prst="roundRect">
            <a:avLst>
              <a:gd name="adj" fmla="val 2083"/>
            </a:avLst>
          </a:prstGeom>
          <a:solidFill>
            <a:srgbClr val="0B1F3A"/>
          </a:solidFill>
          <a:ln w="12700">
            <a:solidFill>
              <a:srgbClr val="0B1F3A"/>
            </a:solidFill>
            <a:prstDash val="solid"/>
          </a:ln>
          <a:effectLst>
            <a:outerShdw sx="100000" sy="100000" kx="0" ky="0" algn="bl" rotWithShape="0" blurRad="76200" dist="25400" dir="5400000">
              <a:srgbClr val="0F172A">
                <a:alpha val="12000"/>
              </a:srgbClr>
            </a:outerShdw>
          </a:effectLst>
        </p:spPr>
      </p:sp>
      <p:sp>
        <p:nvSpPr>
          <p:cNvPr id="12" name="Shape 8"/>
          <p:cNvSpPr/>
          <p:nvPr/>
        </p:nvSpPr>
        <p:spPr>
          <a:xfrm>
            <a:off x="6126480" y="1508760"/>
            <a:ext cx="548640" cy="548640"/>
          </a:xfrm>
          <a:prstGeom prst="ellipse">
            <a:avLst/>
          </a:prstGeom>
          <a:solidFill>
            <a:srgbClr val="14B8A6"/>
          </a:solidFill>
          <a:ln w="12700">
            <a:solidFill>
              <a:srgbClr val="14B8A6"/>
            </a:solidFill>
            <a:prstDash val="solid"/>
          </a:ln>
        </p:spPr>
      </p:sp>
      <p:pic>
        <p:nvPicPr>
          <p:cNvPr id="13" name="Image 2" descr="preencoded.png">    </p:cNvPr>
          <p:cNvPicPr>
            <a:picLocks noChangeAspect="1"/>
          </p:cNvPicPr>
          <p:nvPr/>
        </p:nvPicPr>
        <p:blipFill>
          <a:blip r:embed="rId3"/>
          <a:stretch>
            <a:fillRect/>
          </a:stretch>
        </p:blipFill>
        <p:spPr>
          <a:xfrm>
            <a:off x="6263640" y="1645920"/>
            <a:ext cx="274320" cy="274320"/>
          </a:xfrm>
          <a:prstGeom prst="rect">
            <a:avLst/>
          </a:prstGeom>
        </p:spPr>
      </p:pic>
      <p:sp>
        <p:nvSpPr>
          <p:cNvPr id="14" name="Text 9"/>
          <p:cNvSpPr txBox="1"/>
          <p:nvPr/>
        </p:nvSpPr>
        <p:spPr>
          <a:xfrm>
            <a:off x="6812280" y="1508760"/>
            <a:ext cx="365760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Objectives</a:t>
            </a:r>
            <a:endParaRPr lang="en-US" sz="2200" dirty="0"/>
          </a:p>
        </p:txBody>
      </p:sp>
      <p:sp>
        <p:nvSpPr>
          <p:cNvPr id="15" name="Shape 10"/>
          <p:cNvSpPr/>
          <p:nvPr/>
        </p:nvSpPr>
        <p:spPr>
          <a:xfrm>
            <a:off x="6126480" y="2240280"/>
            <a:ext cx="457200" cy="457200"/>
          </a:xfrm>
          <a:prstGeom prst="ellipse">
            <a:avLst/>
          </a:prstGeom>
          <a:solidFill>
            <a:srgbClr val="1D4ED8"/>
          </a:solidFill>
          <a:ln w="12700">
            <a:solidFill>
              <a:srgbClr val="FFFFFF"/>
            </a:solidFill>
            <a:prstDash val="solid"/>
          </a:ln>
        </p:spPr>
      </p:sp>
      <p:sp>
        <p:nvSpPr>
          <p:cNvPr id="16" name="Text 11"/>
          <p:cNvSpPr txBox="1"/>
          <p:nvPr/>
        </p:nvSpPr>
        <p:spPr>
          <a:xfrm>
            <a:off x="6126480" y="22402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7" name="Text 12"/>
          <p:cNvSpPr txBox="1"/>
          <p:nvPr/>
        </p:nvSpPr>
        <p:spPr>
          <a:xfrm>
            <a:off x="6766560" y="2240280"/>
            <a:ext cx="4663440" cy="45720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Explore and understand the dataset</a:t>
            </a:r>
            <a:endParaRPr lang="en-US" sz="1600" dirty="0"/>
          </a:p>
        </p:txBody>
      </p:sp>
      <p:sp>
        <p:nvSpPr>
          <p:cNvPr id="18" name="Shape 13"/>
          <p:cNvSpPr/>
          <p:nvPr/>
        </p:nvSpPr>
        <p:spPr>
          <a:xfrm>
            <a:off x="6126480" y="2916936"/>
            <a:ext cx="457200" cy="457200"/>
          </a:xfrm>
          <a:prstGeom prst="ellipse">
            <a:avLst/>
          </a:prstGeom>
          <a:solidFill>
            <a:srgbClr val="1D4ED8"/>
          </a:solidFill>
          <a:ln w="12700">
            <a:solidFill>
              <a:srgbClr val="FFFFFF"/>
            </a:solidFill>
            <a:prstDash val="solid"/>
          </a:ln>
        </p:spPr>
      </p:sp>
      <p:sp>
        <p:nvSpPr>
          <p:cNvPr id="19" name="Text 14"/>
          <p:cNvSpPr txBox="1"/>
          <p:nvPr/>
        </p:nvSpPr>
        <p:spPr>
          <a:xfrm>
            <a:off x="6126480" y="291693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0" name="Text 15"/>
          <p:cNvSpPr txBox="1"/>
          <p:nvPr/>
        </p:nvSpPr>
        <p:spPr>
          <a:xfrm>
            <a:off x="6766560" y="2916936"/>
            <a:ext cx="4663440" cy="45720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Handle missing values and prepare data for analysis</a:t>
            </a:r>
            <a:endParaRPr lang="en-US" sz="1600" dirty="0"/>
          </a:p>
        </p:txBody>
      </p:sp>
      <p:sp>
        <p:nvSpPr>
          <p:cNvPr id="21" name="Shape 16"/>
          <p:cNvSpPr/>
          <p:nvPr/>
        </p:nvSpPr>
        <p:spPr>
          <a:xfrm>
            <a:off x="6126480" y="3593592"/>
            <a:ext cx="457200" cy="457200"/>
          </a:xfrm>
          <a:prstGeom prst="ellipse">
            <a:avLst/>
          </a:prstGeom>
          <a:solidFill>
            <a:srgbClr val="1D4ED8"/>
          </a:solidFill>
          <a:ln w="12700">
            <a:solidFill>
              <a:srgbClr val="FFFFFF"/>
            </a:solidFill>
            <a:prstDash val="solid"/>
          </a:ln>
        </p:spPr>
      </p:sp>
      <p:sp>
        <p:nvSpPr>
          <p:cNvPr id="22" name="Text 17"/>
          <p:cNvSpPr txBox="1"/>
          <p:nvPr/>
        </p:nvSpPr>
        <p:spPr>
          <a:xfrm>
            <a:off x="6126480" y="359359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3" name="Text 18"/>
          <p:cNvSpPr txBox="1"/>
          <p:nvPr/>
        </p:nvSpPr>
        <p:spPr>
          <a:xfrm>
            <a:off x="6766560" y="3593592"/>
            <a:ext cx="4663440" cy="45720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Analyze student performance using Python and SQL</a:t>
            </a:r>
            <a:endParaRPr lang="en-US" sz="1600" dirty="0"/>
          </a:p>
        </p:txBody>
      </p:sp>
      <p:sp>
        <p:nvSpPr>
          <p:cNvPr id="24" name="Shape 19"/>
          <p:cNvSpPr/>
          <p:nvPr/>
        </p:nvSpPr>
        <p:spPr>
          <a:xfrm>
            <a:off x="6126480" y="4270248"/>
            <a:ext cx="457200" cy="457200"/>
          </a:xfrm>
          <a:prstGeom prst="ellipse">
            <a:avLst/>
          </a:prstGeom>
          <a:solidFill>
            <a:srgbClr val="1D4ED8"/>
          </a:solidFill>
          <a:ln w="12700">
            <a:solidFill>
              <a:srgbClr val="FFFFFF"/>
            </a:solidFill>
            <a:prstDash val="solid"/>
          </a:ln>
        </p:spPr>
      </p:sp>
      <p:sp>
        <p:nvSpPr>
          <p:cNvPr id="25" name="Text 20"/>
          <p:cNvSpPr txBox="1"/>
          <p:nvPr/>
        </p:nvSpPr>
        <p:spPr>
          <a:xfrm>
            <a:off x="6126480" y="42702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6" name="Text 21"/>
          <p:cNvSpPr txBox="1"/>
          <p:nvPr/>
        </p:nvSpPr>
        <p:spPr>
          <a:xfrm>
            <a:off x="6766560" y="4270248"/>
            <a:ext cx="4663440" cy="45720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Develop meaningful data visualizations</a:t>
            </a:r>
            <a:endParaRPr lang="en-US" sz="1600" dirty="0"/>
          </a:p>
        </p:txBody>
      </p:sp>
      <p:sp>
        <p:nvSpPr>
          <p:cNvPr id="27" name="Shape 22"/>
          <p:cNvSpPr/>
          <p:nvPr/>
        </p:nvSpPr>
        <p:spPr>
          <a:xfrm>
            <a:off x="6126480" y="4946904"/>
            <a:ext cx="457200" cy="457200"/>
          </a:xfrm>
          <a:prstGeom prst="ellipse">
            <a:avLst/>
          </a:prstGeom>
          <a:solidFill>
            <a:srgbClr val="14B8A6"/>
          </a:solidFill>
          <a:ln w="12700">
            <a:solidFill>
              <a:srgbClr val="FFFFFF"/>
            </a:solidFill>
            <a:prstDash val="solid"/>
          </a:ln>
        </p:spPr>
      </p:sp>
      <p:sp>
        <p:nvSpPr>
          <p:cNvPr id="28" name="Text 23"/>
          <p:cNvSpPr txBox="1"/>
          <p:nvPr/>
        </p:nvSpPr>
        <p:spPr>
          <a:xfrm>
            <a:off x="6126480" y="494690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9" name="Text 24"/>
          <p:cNvSpPr txBox="1"/>
          <p:nvPr/>
        </p:nvSpPr>
        <p:spPr>
          <a:xfrm>
            <a:off x="6766560" y="4946904"/>
            <a:ext cx="4663440" cy="45720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Build an interactive Power BI dashboard</a:t>
            </a:r>
            <a:endParaRPr lang="en-US" sz="1600" dirty="0"/>
          </a:p>
        </p:txBody>
      </p:sp>
      <p:sp>
        <p:nvSpPr>
          <p:cNvPr id="30" name="Shape 25"/>
          <p:cNvSpPr/>
          <p:nvPr/>
        </p:nvSpPr>
        <p:spPr>
          <a:xfrm>
            <a:off x="548640" y="5852160"/>
            <a:ext cx="1998878" cy="411480"/>
          </a:xfrm>
          <a:prstGeom prst="roundRect">
            <a:avLst>
              <a:gd name="adj" fmla="val 22222"/>
            </a:avLst>
          </a:prstGeom>
          <a:solidFill>
            <a:srgbClr val="FFFFFF"/>
          </a:solidFill>
          <a:ln w="9525">
            <a:solidFill>
              <a:srgbClr val="D5DEEA"/>
            </a:solidFill>
            <a:prstDash val="solid"/>
          </a:ln>
        </p:spPr>
      </p:sp>
      <p:sp>
        <p:nvSpPr>
          <p:cNvPr id="31" name="Text 26"/>
          <p:cNvSpPr txBox="1"/>
          <p:nvPr/>
        </p:nvSpPr>
        <p:spPr>
          <a:xfrm>
            <a:off x="548640" y="5852160"/>
            <a:ext cx="1998878" cy="411480"/>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abhiva_dataset.csv</a:t>
            </a:r>
            <a:endParaRPr lang="en-US" sz="1100" dirty="0"/>
          </a:p>
        </p:txBody>
      </p:sp>
      <p:sp>
        <p:nvSpPr>
          <p:cNvPr id="32" name="Shape 27"/>
          <p:cNvSpPr/>
          <p:nvPr/>
        </p:nvSpPr>
        <p:spPr>
          <a:xfrm>
            <a:off x="2584094" y="5957316"/>
            <a:ext cx="201168" cy="201168"/>
          </a:xfrm>
          <a:prstGeom prst="rightArrow">
            <a:avLst/>
          </a:prstGeom>
          <a:solidFill>
            <a:srgbClr val="64748B"/>
          </a:solidFill>
          <a:ln w="12700">
            <a:solidFill>
              <a:srgbClr val="64748B"/>
            </a:solidFill>
            <a:prstDash val="solid"/>
          </a:ln>
        </p:spPr>
      </p:sp>
      <p:sp>
        <p:nvSpPr>
          <p:cNvPr id="33" name="Shape 28"/>
          <p:cNvSpPr/>
          <p:nvPr/>
        </p:nvSpPr>
        <p:spPr>
          <a:xfrm>
            <a:off x="2821838" y="5852160"/>
            <a:ext cx="1998878" cy="411480"/>
          </a:xfrm>
          <a:prstGeom prst="roundRect">
            <a:avLst>
              <a:gd name="adj" fmla="val 22222"/>
            </a:avLst>
          </a:prstGeom>
          <a:solidFill>
            <a:srgbClr val="FFFFFF"/>
          </a:solidFill>
          <a:ln w="9525">
            <a:solidFill>
              <a:srgbClr val="D5DEEA"/>
            </a:solidFill>
            <a:prstDash val="solid"/>
          </a:ln>
        </p:spPr>
      </p:sp>
      <p:sp>
        <p:nvSpPr>
          <p:cNvPr id="34" name="Text 29"/>
          <p:cNvSpPr txBox="1"/>
          <p:nvPr/>
        </p:nvSpPr>
        <p:spPr>
          <a:xfrm>
            <a:off x="2821838" y="5852160"/>
            <a:ext cx="1998878" cy="411480"/>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Python cleaning</a:t>
            </a:r>
            <a:endParaRPr lang="en-US" sz="1100" dirty="0"/>
          </a:p>
        </p:txBody>
      </p:sp>
      <p:sp>
        <p:nvSpPr>
          <p:cNvPr id="35" name="Shape 30"/>
          <p:cNvSpPr/>
          <p:nvPr/>
        </p:nvSpPr>
        <p:spPr>
          <a:xfrm>
            <a:off x="4857293" y="5957316"/>
            <a:ext cx="201168" cy="201168"/>
          </a:xfrm>
          <a:prstGeom prst="rightArrow">
            <a:avLst/>
          </a:prstGeom>
          <a:solidFill>
            <a:srgbClr val="64748B"/>
          </a:solidFill>
          <a:ln w="12700">
            <a:solidFill>
              <a:srgbClr val="64748B"/>
            </a:solidFill>
            <a:prstDash val="solid"/>
          </a:ln>
        </p:spPr>
      </p:sp>
      <p:sp>
        <p:nvSpPr>
          <p:cNvPr id="36" name="Shape 31"/>
          <p:cNvSpPr/>
          <p:nvPr/>
        </p:nvSpPr>
        <p:spPr>
          <a:xfrm>
            <a:off x="5095037" y="5852160"/>
            <a:ext cx="1998878" cy="411480"/>
          </a:xfrm>
          <a:prstGeom prst="roundRect">
            <a:avLst>
              <a:gd name="adj" fmla="val 22222"/>
            </a:avLst>
          </a:prstGeom>
          <a:solidFill>
            <a:srgbClr val="FFFFFF"/>
          </a:solidFill>
          <a:ln w="9525">
            <a:solidFill>
              <a:srgbClr val="D5DEEA"/>
            </a:solidFill>
            <a:prstDash val="solid"/>
          </a:ln>
        </p:spPr>
      </p:sp>
      <p:sp>
        <p:nvSpPr>
          <p:cNvPr id="37" name="Text 32"/>
          <p:cNvSpPr txBox="1"/>
          <p:nvPr/>
        </p:nvSpPr>
        <p:spPr>
          <a:xfrm>
            <a:off x="5095037" y="5852160"/>
            <a:ext cx="1998878" cy="411480"/>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cleaned_data.csv</a:t>
            </a:r>
            <a:endParaRPr lang="en-US" sz="1100" dirty="0"/>
          </a:p>
        </p:txBody>
      </p:sp>
      <p:sp>
        <p:nvSpPr>
          <p:cNvPr id="38" name="Shape 33"/>
          <p:cNvSpPr/>
          <p:nvPr/>
        </p:nvSpPr>
        <p:spPr>
          <a:xfrm>
            <a:off x="7130491" y="5957316"/>
            <a:ext cx="201168" cy="201168"/>
          </a:xfrm>
          <a:prstGeom prst="rightArrow">
            <a:avLst/>
          </a:prstGeom>
          <a:solidFill>
            <a:srgbClr val="64748B"/>
          </a:solidFill>
          <a:ln w="12700">
            <a:solidFill>
              <a:srgbClr val="64748B"/>
            </a:solidFill>
            <a:prstDash val="solid"/>
          </a:ln>
        </p:spPr>
      </p:sp>
      <p:sp>
        <p:nvSpPr>
          <p:cNvPr id="39" name="Shape 34"/>
          <p:cNvSpPr/>
          <p:nvPr/>
        </p:nvSpPr>
        <p:spPr>
          <a:xfrm>
            <a:off x="7368235" y="5852160"/>
            <a:ext cx="1998878" cy="411480"/>
          </a:xfrm>
          <a:prstGeom prst="roundRect">
            <a:avLst>
              <a:gd name="adj" fmla="val 22222"/>
            </a:avLst>
          </a:prstGeom>
          <a:solidFill>
            <a:srgbClr val="FFFFFF"/>
          </a:solidFill>
          <a:ln w="9525">
            <a:solidFill>
              <a:srgbClr val="D5DEEA"/>
            </a:solidFill>
            <a:prstDash val="solid"/>
          </a:ln>
        </p:spPr>
      </p:sp>
      <p:sp>
        <p:nvSpPr>
          <p:cNvPr id="40" name="Text 35"/>
          <p:cNvSpPr txBox="1"/>
          <p:nvPr/>
        </p:nvSpPr>
        <p:spPr>
          <a:xfrm>
            <a:off x="7368235" y="5852160"/>
            <a:ext cx="1998878" cy="411480"/>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MySQL analysis</a:t>
            </a:r>
            <a:endParaRPr lang="en-US" sz="1100" dirty="0"/>
          </a:p>
        </p:txBody>
      </p:sp>
      <p:sp>
        <p:nvSpPr>
          <p:cNvPr id="41" name="Shape 36"/>
          <p:cNvSpPr/>
          <p:nvPr/>
        </p:nvSpPr>
        <p:spPr>
          <a:xfrm>
            <a:off x="9403690" y="5957316"/>
            <a:ext cx="201168" cy="201168"/>
          </a:xfrm>
          <a:prstGeom prst="rightArrow">
            <a:avLst/>
          </a:prstGeom>
          <a:solidFill>
            <a:srgbClr val="64748B"/>
          </a:solidFill>
          <a:ln w="12700">
            <a:solidFill>
              <a:srgbClr val="64748B"/>
            </a:solidFill>
            <a:prstDash val="solid"/>
          </a:ln>
        </p:spPr>
      </p:sp>
      <p:sp>
        <p:nvSpPr>
          <p:cNvPr id="42" name="Shape 37"/>
          <p:cNvSpPr/>
          <p:nvPr/>
        </p:nvSpPr>
        <p:spPr>
          <a:xfrm>
            <a:off x="9641434" y="5852160"/>
            <a:ext cx="1998878" cy="411480"/>
          </a:xfrm>
          <a:prstGeom prst="roundRect">
            <a:avLst>
              <a:gd name="adj" fmla="val 22222"/>
            </a:avLst>
          </a:prstGeom>
          <a:solidFill>
            <a:srgbClr val="FFFFFF"/>
          </a:solidFill>
          <a:ln w="9525">
            <a:solidFill>
              <a:srgbClr val="D5DEEA"/>
            </a:solidFill>
            <a:prstDash val="solid"/>
          </a:ln>
        </p:spPr>
      </p:sp>
      <p:sp>
        <p:nvSpPr>
          <p:cNvPr id="43" name="Text 38"/>
          <p:cNvSpPr txBox="1"/>
          <p:nvPr/>
        </p:nvSpPr>
        <p:spPr>
          <a:xfrm>
            <a:off x="9641434" y="5852160"/>
            <a:ext cx="1998878" cy="411480"/>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Power BI dashboard</a:t>
            </a:r>
            <a:endParaRPr lang="en-US" sz="1100" dirty="0"/>
          </a:p>
        </p:txBody>
      </p:sp>
      <p:sp>
        <p:nvSpPr>
          <p:cNvPr id="25" name="Slide Number Placeholder 0"/>
          <p:cNvSpPr>
            <a:spLocks noGrp="1"/>
          </p:cNvSpPr>
          <p:nvPr>
            <p:ph type="sldNum" sz="quarter" idx="4294967295"/>
          </p:nvPr>
        </p:nvSpPr>
        <p:spPr>
          <a:xfrm>
            <a:off x="11155680" y="6419088"/>
            <a:ext cx="48463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731520"/>
          </a:xfrm>
          <a:prstGeom prst="rect">
            <a:avLst/>
          </a:prstGeom>
          <a:noFill/>
          <a:ln/>
        </p:spPr>
        <p:txBody>
          <a:bodyPr wrap="square" lIns="0" tIns="0" rIns="0" bIns="0" rtlCol="0" anchor="ctr"/>
          <a:lstStyle/>
          <a:p>
            <a:pPr indent="0" marL="0">
              <a:buNone/>
            </a:pPr>
            <a:r>
              <a:rPr lang="en-US" sz="3400" b="1" dirty="0">
                <a:solidFill>
                  <a:srgbClr val="0B1F3A"/>
                </a:solidFill>
                <a:latin typeface="Calibri" pitchFamily="34" charset="0"/>
                <a:ea typeface="Calibri" pitchFamily="34" charset="-122"/>
                <a:cs typeface="Calibri" pitchFamily="34" charset="-120"/>
              </a:rPr>
              <a:t>Dataset and Data Preprocessing</a:t>
            </a:r>
            <a:endParaRPr lang="en-US" sz="3400" dirty="0"/>
          </a:p>
        </p:txBody>
      </p:sp>
      <p:sp>
        <p:nvSpPr>
          <p:cNvPr id="3" name="Shape 1"/>
          <p:cNvSpPr/>
          <p:nvPr/>
        </p:nvSpPr>
        <p:spPr>
          <a:xfrm>
            <a:off x="548640" y="1280160"/>
            <a:ext cx="3291840" cy="1371600"/>
          </a:xfrm>
          <a:prstGeom prst="roundRect">
            <a:avLst>
              <a:gd name="adj" fmla="val 6667"/>
            </a:avLst>
          </a:prstGeom>
          <a:solidFill>
            <a:srgbClr val="FFFFFF"/>
          </a:solidFill>
          <a:ln w="12700">
            <a:solidFill>
              <a:srgbClr val="FFFFFF"/>
            </a:solidFill>
            <a:prstDash val="solid"/>
          </a:ln>
          <a:effectLst>
            <a:outerShdw sx="100000" sy="100000" kx="0" ky="0" algn="bl" rotWithShape="0" blurRad="76200" dist="25400" dir="5400000">
              <a:srgbClr val="0F172A">
                <a:alpha val="12000"/>
              </a:srgbClr>
            </a:outerShdw>
          </a:effectLst>
        </p:spPr>
      </p:sp>
      <p:sp>
        <p:nvSpPr>
          <p:cNvPr id="4" name="Text 2"/>
          <p:cNvSpPr txBox="1"/>
          <p:nvPr/>
        </p:nvSpPr>
        <p:spPr>
          <a:xfrm>
            <a:off x="777240" y="1417320"/>
            <a:ext cx="2834640" cy="731520"/>
          </a:xfrm>
          <a:prstGeom prst="rect">
            <a:avLst/>
          </a:prstGeom>
          <a:noFill/>
          <a:ln/>
        </p:spPr>
        <p:txBody>
          <a:bodyPr wrap="square" lIns="0" tIns="0" rIns="0" bIns="0" rtlCol="0" anchor="t"/>
          <a:lstStyle/>
          <a:p>
            <a:pPr indent="0" marL="0">
              <a:buNone/>
            </a:pPr>
            <a:r>
              <a:rPr lang="en-US" sz="4400" b="1" dirty="0">
                <a:solidFill>
                  <a:srgbClr val="1D4ED8"/>
                </a:solidFill>
                <a:latin typeface="Calibri" pitchFamily="34" charset="0"/>
                <a:ea typeface="Calibri" pitchFamily="34" charset="-122"/>
                <a:cs typeface="Calibri" pitchFamily="34" charset="-120"/>
              </a:rPr>
              <a:t>20,000</a:t>
            </a:r>
            <a:endParaRPr lang="en-US" sz="4400" dirty="0"/>
          </a:p>
        </p:txBody>
      </p:sp>
      <p:sp>
        <p:nvSpPr>
          <p:cNvPr id="5" name="Text 3"/>
          <p:cNvSpPr txBox="1"/>
          <p:nvPr/>
        </p:nvSpPr>
        <p:spPr>
          <a:xfrm>
            <a:off x="777240" y="2148840"/>
            <a:ext cx="2834640" cy="365760"/>
          </a:xfrm>
          <a:prstGeom prst="rect">
            <a:avLst/>
          </a:prstGeom>
          <a:noFill/>
          <a:ln/>
        </p:spPr>
        <p:txBody>
          <a:bodyPr wrap="square" lIns="0" tIns="0" rIns="0" bIns="0" rtlCol="0" anchor="t"/>
          <a:lstStyle/>
          <a:p>
            <a:pPr indent="0" marL="0">
              <a:buNone/>
            </a:pPr>
            <a:r>
              <a:rPr lang="en-US" sz="1500" dirty="0">
                <a:solidFill>
                  <a:srgbClr val="64748B"/>
                </a:solidFill>
                <a:latin typeface="Calibri" pitchFamily="34" charset="0"/>
                <a:ea typeface="Calibri" pitchFamily="34" charset="-122"/>
                <a:cs typeface="Calibri" pitchFamily="34" charset="-120"/>
              </a:rPr>
              <a:t>Original records</a:t>
            </a:r>
            <a:endParaRPr lang="en-US" sz="1500" dirty="0"/>
          </a:p>
        </p:txBody>
      </p:sp>
      <p:sp>
        <p:nvSpPr>
          <p:cNvPr id="6" name="Shape 4"/>
          <p:cNvSpPr/>
          <p:nvPr/>
        </p:nvSpPr>
        <p:spPr>
          <a:xfrm>
            <a:off x="548640" y="2788920"/>
            <a:ext cx="3291840" cy="1371600"/>
          </a:xfrm>
          <a:prstGeom prst="roundRect">
            <a:avLst>
              <a:gd name="adj" fmla="val 6667"/>
            </a:avLst>
          </a:prstGeom>
          <a:solidFill>
            <a:srgbClr val="FFFFFF"/>
          </a:solidFill>
          <a:ln w="12700">
            <a:solidFill>
              <a:srgbClr val="FFFFFF"/>
            </a:solidFill>
            <a:prstDash val="solid"/>
          </a:ln>
          <a:effectLst>
            <a:outerShdw sx="100000" sy="100000" kx="0" ky="0" algn="bl" rotWithShape="0" blurRad="76200" dist="25400" dir="5400000">
              <a:srgbClr val="0F172A">
                <a:alpha val="12000"/>
              </a:srgbClr>
            </a:outerShdw>
          </a:effectLst>
        </p:spPr>
      </p:sp>
      <p:sp>
        <p:nvSpPr>
          <p:cNvPr id="7" name="Text 5"/>
          <p:cNvSpPr txBox="1"/>
          <p:nvPr/>
        </p:nvSpPr>
        <p:spPr>
          <a:xfrm>
            <a:off x="777240" y="2926080"/>
            <a:ext cx="2834640" cy="731520"/>
          </a:xfrm>
          <a:prstGeom prst="rect">
            <a:avLst/>
          </a:prstGeom>
          <a:noFill/>
          <a:ln/>
        </p:spPr>
        <p:txBody>
          <a:bodyPr wrap="square" lIns="0" tIns="0" rIns="0" bIns="0" rtlCol="0" anchor="t"/>
          <a:lstStyle/>
          <a:p>
            <a:pPr indent="0" marL="0">
              <a:buNone/>
            </a:pPr>
            <a:r>
              <a:rPr lang="en-US" sz="4400" b="1" dirty="0">
                <a:solidFill>
                  <a:srgbClr val="1D4ED8"/>
                </a:solidFill>
                <a:latin typeface="Calibri" pitchFamily="34" charset="0"/>
                <a:ea typeface="Calibri" pitchFamily="34" charset="-122"/>
                <a:cs typeface="Calibri" pitchFamily="34" charset="-120"/>
              </a:rPr>
              <a:t>15</a:t>
            </a:r>
            <a:endParaRPr lang="en-US" sz="4400" dirty="0"/>
          </a:p>
        </p:txBody>
      </p:sp>
      <p:sp>
        <p:nvSpPr>
          <p:cNvPr id="8" name="Text 6"/>
          <p:cNvSpPr txBox="1"/>
          <p:nvPr/>
        </p:nvSpPr>
        <p:spPr>
          <a:xfrm>
            <a:off x="777240" y="3657600"/>
            <a:ext cx="2834640" cy="365760"/>
          </a:xfrm>
          <a:prstGeom prst="rect">
            <a:avLst/>
          </a:prstGeom>
          <a:noFill/>
          <a:ln/>
        </p:spPr>
        <p:txBody>
          <a:bodyPr wrap="square" lIns="0" tIns="0" rIns="0" bIns="0" rtlCol="0" anchor="t"/>
          <a:lstStyle/>
          <a:p>
            <a:pPr indent="0" marL="0">
              <a:buNone/>
            </a:pPr>
            <a:r>
              <a:rPr lang="en-US" sz="1500" dirty="0">
                <a:solidFill>
                  <a:srgbClr val="64748B"/>
                </a:solidFill>
                <a:latin typeface="Calibri" pitchFamily="34" charset="0"/>
                <a:ea typeface="Calibri" pitchFamily="34" charset="-122"/>
                <a:cs typeface="Calibri" pitchFamily="34" charset="-120"/>
              </a:rPr>
              <a:t>Number of columns</a:t>
            </a:r>
            <a:endParaRPr lang="en-US" sz="1500" dirty="0"/>
          </a:p>
        </p:txBody>
      </p:sp>
      <p:sp>
        <p:nvSpPr>
          <p:cNvPr id="9" name="Shape 7"/>
          <p:cNvSpPr/>
          <p:nvPr/>
        </p:nvSpPr>
        <p:spPr>
          <a:xfrm>
            <a:off x="548640" y="4297680"/>
            <a:ext cx="3291840" cy="1371600"/>
          </a:xfrm>
          <a:prstGeom prst="roundRect">
            <a:avLst>
              <a:gd name="adj" fmla="val 6667"/>
            </a:avLst>
          </a:prstGeom>
          <a:solidFill>
            <a:srgbClr val="0B1F3A"/>
          </a:solidFill>
          <a:ln w="12700">
            <a:solidFill>
              <a:srgbClr val="0B1F3A"/>
            </a:solidFill>
            <a:prstDash val="solid"/>
          </a:ln>
          <a:effectLst>
            <a:outerShdw sx="100000" sy="100000" kx="0" ky="0" algn="bl" rotWithShape="0" blurRad="76200" dist="25400" dir="5400000">
              <a:srgbClr val="0F172A">
                <a:alpha val="12000"/>
              </a:srgbClr>
            </a:outerShdw>
          </a:effectLst>
        </p:spPr>
      </p:sp>
      <p:sp>
        <p:nvSpPr>
          <p:cNvPr id="10" name="Text 8"/>
          <p:cNvSpPr txBox="1"/>
          <p:nvPr/>
        </p:nvSpPr>
        <p:spPr>
          <a:xfrm>
            <a:off x="777240" y="4434840"/>
            <a:ext cx="2834640" cy="731520"/>
          </a:xfrm>
          <a:prstGeom prst="rect">
            <a:avLst/>
          </a:prstGeom>
          <a:noFill/>
          <a:ln/>
        </p:spPr>
        <p:txBody>
          <a:bodyPr wrap="square" lIns="0" tIns="0" rIns="0" bIns="0" rtlCol="0" anchor="t"/>
          <a:lstStyle/>
          <a:p>
            <a:pPr indent="0" marL="0">
              <a:buNone/>
            </a:pPr>
            <a:r>
              <a:rPr lang="en-US" sz="4400" b="1" dirty="0">
                <a:solidFill>
                  <a:srgbClr val="14B8A6"/>
                </a:solidFill>
                <a:latin typeface="Calibri" pitchFamily="34" charset="0"/>
                <a:ea typeface="Calibri" pitchFamily="34" charset="-122"/>
                <a:cs typeface="Calibri" pitchFamily="34" charset="-120"/>
              </a:rPr>
              <a:t>17,928</a:t>
            </a:r>
            <a:endParaRPr lang="en-US" sz="4400" dirty="0"/>
          </a:p>
        </p:txBody>
      </p:sp>
      <p:sp>
        <p:nvSpPr>
          <p:cNvPr id="11" name="Text 9"/>
          <p:cNvSpPr txBox="1"/>
          <p:nvPr/>
        </p:nvSpPr>
        <p:spPr>
          <a:xfrm>
            <a:off x="777240" y="5166360"/>
            <a:ext cx="2834640" cy="36576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Final cleaned records</a:t>
            </a:r>
            <a:endParaRPr lang="en-US" sz="1500" dirty="0"/>
          </a:p>
        </p:txBody>
      </p:sp>
      <p:sp>
        <p:nvSpPr>
          <p:cNvPr id="12" name="Text 10"/>
          <p:cNvSpPr txBox="1"/>
          <p:nvPr/>
        </p:nvSpPr>
        <p:spPr>
          <a:xfrm>
            <a:off x="4114800" y="1280160"/>
            <a:ext cx="4572000" cy="274320"/>
          </a:xfrm>
          <a:prstGeom prst="rect">
            <a:avLst/>
          </a:prstGeom>
          <a:noFill/>
          <a:ln/>
        </p:spPr>
        <p:txBody>
          <a:bodyPr wrap="square" lIns="0" tIns="0" rIns="0" bIns="0" rtlCol="0" anchor="t"/>
          <a:lstStyle/>
          <a:p>
            <a:pPr indent="0" marL="0">
              <a:buNone/>
            </a:pPr>
            <a:r>
              <a:rPr lang="en-US" sz="1200" b="1" dirty="0">
                <a:solidFill>
                  <a:srgbClr val="64748B"/>
                </a:solidFill>
                <a:latin typeface="Calibri" pitchFamily="34" charset="0"/>
                <a:ea typeface="Calibri" pitchFamily="34" charset="-122"/>
                <a:cs typeface="Calibri" pitchFamily="34" charset="-120"/>
              </a:rPr>
              <a:t>PREPROCESSING WORKFLOW</a:t>
            </a:r>
            <a:endParaRPr lang="en-US" sz="1200" dirty="0"/>
          </a:p>
        </p:txBody>
      </p:sp>
      <p:sp>
        <p:nvSpPr>
          <p:cNvPr id="13" name="Shape 11"/>
          <p:cNvSpPr/>
          <p:nvPr/>
        </p:nvSpPr>
        <p:spPr>
          <a:xfrm>
            <a:off x="4114800" y="1600200"/>
            <a:ext cx="1371600" cy="2514600"/>
          </a:xfrm>
          <a:prstGeom prst="roundRect">
            <a:avLst>
              <a:gd name="adj" fmla="val 6667"/>
            </a:avLst>
          </a:prstGeom>
          <a:solidFill>
            <a:srgbClr val="FFFFFF"/>
          </a:solidFill>
          <a:ln w="12700">
            <a:solidFill>
              <a:srgbClr val="FFFFFF"/>
            </a:solidFill>
            <a:prstDash val="solid"/>
          </a:ln>
          <a:effectLst>
            <a:outerShdw sx="100000" sy="100000" kx="0" ky="0" algn="bl" rotWithShape="0" blurRad="76200" dist="25400" dir="5400000">
              <a:srgbClr val="0F172A">
                <a:alpha val="12000"/>
              </a:srgbClr>
            </a:outerShdw>
          </a:effectLst>
        </p:spPr>
      </p:sp>
      <p:sp>
        <p:nvSpPr>
          <p:cNvPr id="14" name="Shape 12"/>
          <p:cNvSpPr/>
          <p:nvPr/>
        </p:nvSpPr>
        <p:spPr>
          <a:xfrm>
            <a:off x="4526280" y="1783080"/>
            <a:ext cx="548640" cy="548640"/>
          </a:xfrm>
          <a:prstGeom prst="ellipse">
            <a:avLst/>
          </a:prstGeom>
          <a:solidFill>
            <a:srgbClr val="14B8A6"/>
          </a:solidFill>
          <a:ln w="12700">
            <a:solidFill>
              <a:srgbClr val="14B8A6"/>
            </a:solidFill>
            <a:prstDash val="solid"/>
          </a:ln>
        </p:spPr>
      </p:sp>
      <p:pic>
        <p:nvPicPr>
          <p:cNvPr id="15" name="Image 0" descr="preencoded.png">    </p:cNvPr>
          <p:cNvPicPr>
            <a:picLocks noChangeAspect="1"/>
          </p:cNvPicPr>
          <p:nvPr/>
        </p:nvPicPr>
        <p:blipFill>
          <a:blip r:embed="rId1"/>
          <a:stretch>
            <a:fillRect/>
          </a:stretch>
        </p:blipFill>
        <p:spPr>
          <a:xfrm>
            <a:off x="4663440" y="1920240"/>
            <a:ext cx="274320" cy="274320"/>
          </a:xfrm>
          <a:prstGeom prst="rect">
            <a:avLst/>
          </a:prstGeom>
        </p:spPr>
      </p:pic>
      <p:sp>
        <p:nvSpPr>
          <p:cNvPr id="16" name="Text 13"/>
          <p:cNvSpPr txBox="1"/>
          <p:nvPr/>
        </p:nvSpPr>
        <p:spPr>
          <a:xfrm>
            <a:off x="4114800" y="2468880"/>
            <a:ext cx="1371600" cy="320040"/>
          </a:xfrm>
          <a:prstGeom prst="rect">
            <a:avLst/>
          </a:prstGeom>
          <a:noFill/>
          <a:ln/>
        </p:spPr>
        <p:txBody>
          <a:bodyPr wrap="square" lIns="0" tIns="0" rIns="0" bIns="0" rtlCol="0" anchor="t"/>
          <a:lstStyle/>
          <a:p>
            <a:pPr algn="ctr" indent="0" marL="0">
              <a:buNone/>
            </a:pPr>
            <a:r>
              <a:rPr lang="en-US" sz="1400" b="1" dirty="0">
                <a:solidFill>
                  <a:srgbClr val="64748B"/>
                </a:solidFill>
                <a:latin typeface="Calibri" pitchFamily="34" charset="0"/>
                <a:ea typeface="Calibri" pitchFamily="34" charset="-122"/>
                <a:cs typeface="Calibri" pitchFamily="34" charset="-120"/>
              </a:rPr>
              <a:t>1</a:t>
            </a:r>
            <a:endParaRPr lang="en-US" sz="1400" dirty="0"/>
          </a:p>
        </p:txBody>
      </p:sp>
      <p:sp>
        <p:nvSpPr>
          <p:cNvPr id="17" name="Text 14"/>
          <p:cNvSpPr txBox="1"/>
          <p:nvPr/>
        </p:nvSpPr>
        <p:spPr>
          <a:xfrm>
            <a:off x="4187952" y="2788920"/>
            <a:ext cx="1225296" cy="365760"/>
          </a:xfrm>
          <a:prstGeom prst="rect">
            <a:avLst/>
          </a:prstGeom>
          <a:noFill/>
          <a:ln/>
        </p:spPr>
        <p:txBody>
          <a:bodyPr wrap="square" lIns="0" tIns="0" rIns="0" bIns="0" rtlCol="0" anchor="t"/>
          <a:lstStyle/>
          <a:p>
            <a:pPr algn="ctr" indent="0" marL="0">
              <a:buNone/>
            </a:pPr>
            <a:r>
              <a:rPr lang="en-US" sz="1400" b="1" dirty="0">
                <a:solidFill>
                  <a:srgbClr val="0B1F3A"/>
                </a:solidFill>
                <a:latin typeface="Calibri" pitchFamily="34" charset="0"/>
                <a:ea typeface="Calibri" pitchFamily="34" charset="-122"/>
                <a:cs typeface="Calibri" pitchFamily="34" charset="-120"/>
              </a:rPr>
              <a:t>Explore</a:t>
            </a:r>
            <a:endParaRPr lang="en-US" sz="1400" dirty="0"/>
          </a:p>
        </p:txBody>
      </p:sp>
      <p:sp>
        <p:nvSpPr>
          <p:cNvPr id="18" name="Text 15"/>
          <p:cNvSpPr txBox="1"/>
          <p:nvPr/>
        </p:nvSpPr>
        <p:spPr>
          <a:xfrm>
            <a:off x="4206240" y="3200400"/>
            <a:ext cx="1188720" cy="868680"/>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Dataset structure and statistical summaries</a:t>
            </a:r>
            <a:endParaRPr lang="en-US" sz="1200" dirty="0"/>
          </a:p>
        </p:txBody>
      </p:sp>
      <p:sp>
        <p:nvSpPr>
          <p:cNvPr id="19" name="Shape 16"/>
          <p:cNvSpPr/>
          <p:nvPr/>
        </p:nvSpPr>
        <p:spPr>
          <a:xfrm>
            <a:off x="5632704" y="1600200"/>
            <a:ext cx="1371600" cy="2514600"/>
          </a:xfrm>
          <a:prstGeom prst="roundRect">
            <a:avLst>
              <a:gd name="adj" fmla="val 6667"/>
            </a:avLst>
          </a:prstGeom>
          <a:solidFill>
            <a:srgbClr val="FFFFFF"/>
          </a:solidFill>
          <a:ln w="12700">
            <a:solidFill>
              <a:srgbClr val="FFFFFF"/>
            </a:solidFill>
            <a:prstDash val="solid"/>
          </a:ln>
          <a:effectLst>
            <a:outerShdw sx="100000" sy="100000" kx="0" ky="0" algn="bl" rotWithShape="0" blurRad="76200" dist="25400" dir="5400000">
              <a:srgbClr val="0F172A">
                <a:alpha val="12000"/>
              </a:srgbClr>
            </a:outerShdw>
          </a:effectLst>
        </p:spPr>
      </p:sp>
      <p:sp>
        <p:nvSpPr>
          <p:cNvPr id="20" name="Shape 17"/>
          <p:cNvSpPr/>
          <p:nvPr/>
        </p:nvSpPr>
        <p:spPr>
          <a:xfrm>
            <a:off x="6044184" y="1783080"/>
            <a:ext cx="548640" cy="548640"/>
          </a:xfrm>
          <a:prstGeom prst="ellipse">
            <a:avLst/>
          </a:prstGeom>
          <a:solidFill>
            <a:srgbClr val="1D4ED8"/>
          </a:solidFill>
          <a:ln w="12700">
            <a:solidFill>
              <a:srgbClr val="1D4ED8"/>
            </a:solidFill>
            <a:prstDash val="solid"/>
          </a:ln>
        </p:spPr>
      </p:sp>
      <p:pic>
        <p:nvPicPr>
          <p:cNvPr id="21" name="Image 1" descr="preencoded.png">    </p:cNvPr>
          <p:cNvPicPr>
            <a:picLocks noChangeAspect="1"/>
          </p:cNvPicPr>
          <p:nvPr/>
        </p:nvPicPr>
        <p:blipFill>
          <a:blip r:embed="rId2"/>
          <a:stretch>
            <a:fillRect/>
          </a:stretch>
        </p:blipFill>
        <p:spPr>
          <a:xfrm>
            <a:off x="6181344" y="1920240"/>
            <a:ext cx="274320" cy="274320"/>
          </a:xfrm>
          <a:prstGeom prst="rect">
            <a:avLst/>
          </a:prstGeom>
        </p:spPr>
      </p:pic>
      <p:sp>
        <p:nvSpPr>
          <p:cNvPr id="22" name="Text 18"/>
          <p:cNvSpPr txBox="1"/>
          <p:nvPr/>
        </p:nvSpPr>
        <p:spPr>
          <a:xfrm>
            <a:off x="5632704" y="2468880"/>
            <a:ext cx="1371600" cy="320040"/>
          </a:xfrm>
          <a:prstGeom prst="rect">
            <a:avLst/>
          </a:prstGeom>
          <a:noFill/>
          <a:ln/>
        </p:spPr>
        <p:txBody>
          <a:bodyPr wrap="square" lIns="0" tIns="0" rIns="0" bIns="0" rtlCol="0" anchor="t"/>
          <a:lstStyle/>
          <a:p>
            <a:pPr algn="ctr" indent="0" marL="0">
              <a:buNone/>
            </a:pPr>
            <a:r>
              <a:rPr lang="en-US" sz="1400" b="1" dirty="0">
                <a:solidFill>
                  <a:srgbClr val="64748B"/>
                </a:solidFill>
                <a:latin typeface="Calibri" pitchFamily="34" charset="0"/>
                <a:ea typeface="Calibri" pitchFamily="34" charset="-122"/>
                <a:cs typeface="Calibri" pitchFamily="34" charset="-120"/>
              </a:rPr>
              <a:t>2</a:t>
            </a:r>
            <a:endParaRPr lang="en-US" sz="1400" dirty="0"/>
          </a:p>
        </p:txBody>
      </p:sp>
      <p:sp>
        <p:nvSpPr>
          <p:cNvPr id="23" name="Text 19"/>
          <p:cNvSpPr txBox="1"/>
          <p:nvPr/>
        </p:nvSpPr>
        <p:spPr>
          <a:xfrm>
            <a:off x="5705856" y="2788920"/>
            <a:ext cx="1225296" cy="365760"/>
          </a:xfrm>
          <a:prstGeom prst="rect">
            <a:avLst/>
          </a:prstGeom>
          <a:noFill/>
          <a:ln/>
        </p:spPr>
        <p:txBody>
          <a:bodyPr wrap="square" lIns="0" tIns="0" rIns="0" bIns="0" rtlCol="0" anchor="t"/>
          <a:lstStyle/>
          <a:p>
            <a:pPr algn="ctr" indent="0" marL="0">
              <a:buNone/>
            </a:pPr>
            <a:r>
              <a:rPr lang="en-US" sz="1400" b="1" dirty="0">
                <a:solidFill>
                  <a:srgbClr val="0B1F3A"/>
                </a:solidFill>
                <a:latin typeface="Calibri" pitchFamily="34" charset="0"/>
                <a:ea typeface="Calibri" pitchFamily="34" charset="-122"/>
                <a:cs typeface="Calibri" pitchFamily="34" charset="-120"/>
              </a:rPr>
              <a:t>Missing values</a:t>
            </a:r>
            <a:endParaRPr lang="en-US" sz="1400" dirty="0"/>
          </a:p>
        </p:txBody>
      </p:sp>
      <p:sp>
        <p:nvSpPr>
          <p:cNvPr id="24" name="Text 20"/>
          <p:cNvSpPr txBox="1"/>
          <p:nvPr/>
        </p:nvSpPr>
        <p:spPr>
          <a:xfrm>
            <a:off x="5724144" y="3200400"/>
            <a:ext cx="1188720" cy="868680"/>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Identified and handled</a:t>
            </a:r>
            <a:endParaRPr lang="en-US" sz="1200" dirty="0"/>
          </a:p>
        </p:txBody>
      </p:sp>
      <p:sp>
        <p:nvSpPr>
          <p:cNvPr id="25" name="Shape 21"/>
          <p:cNvSpPr/>
          <p:nvPr/>
        </p:nvSpPr>
        <p:spPr>
          <a:xfrm>
            <a:off x="7150608" y="1600200"/>
            <a:ext cx="1371600" cy="2514600"/>
          </a:xfrm>
          <a:prstGeom prst="roundRect">
            <a:avLst>
              <a:gd name="adj" fmla="val 6667"/>
            </a:avLst>
          </a:prstGeom>
          <a:solidFill>
            <a:srgbClr val="FFFFFF"/>
          </a:solidFill>
          <a:ln w="12700">
            <a:solidFill>
              <a:srgbClr val="FFFFFF"/>
            </a:solidFill>
            <a:prstDash val="solid"/>
          </a:ln>
          <a:effectLst>
            <a:outerShdw sx="100000" sy="100000" kx="0" ky="0" algn="bl" rotWithShape="0" blurRad="76200" dist="25400" dir="5400000">
              <a:srgbClr val="0F172A">
                <a:alpha val="12000"/>
              </a:srgbClr>
            </a:outerShdw>
          </a:effectLst>
        </p:spPr>
      </p:sp>
      <p:sp>
        <p:nvSpPr>
          <p:cNvPr id="26" name="Shape 22"/>
          <p:cNvSpPr/>
          <p:nvPr/>
        </p:nvSpPr>
        <p:spPr>
          <a:xfrm>
            <a:off x="7562088" y="1783080"/>
            <a:ext cx="548640" cy="548640"/>
          </a:xfrm>
          <a:prstGeom prst="ellipse">
            <a:avLst/>
          </a:prstGeom>
          <a:solidFill>
            <a:srgbClr val="14B8A6"/>
          </a:solidFill>
          <a:ln w="12700">
            <a:solidFill>
              <a:srgbClr val="14B8A6"/>
            </a:solidFill>
            <a:prstDash val="solid"/>
          </a:ln>
        </p:spPr>
      </p:sp>
      <p:pic>
        <p:nvPicPr>
          <p:cNvPr id="27" name="Image 2" descr="preencoded.png">    </p:cNvPr>
          <p:cNvPicPr>
            <a:picLocks noChangeAspect="1"/>
          </p:cNvPicPr>
          <p:nvPr/>
        </p:nvPicPr>
        <p:blipFill>
          <a:blip r:embed="rId3"/>
          <a:stretch>
            <a:fillRect/>
          </a:stretch>
        </p:blipFill>
        <p:spPr>
          <a:xfrm>
            <a:off x="7699248" y="1920240"/>
            <a:ext cx="274320" cy="274320"/>
          </a:xfrm>
          <a:prstGeom prst="rect">
            <a:avLst/>
          </a:prstGeom>
        </p:spPr>
      </p:pic>
      <p:sp>
        <p:nvSpPr>
          <p:cNvPr id="28" name="Text 23"/>
          <p:cNvSpPr txBox="1"/>
          <p:nvPr/>
        </p:nvSpPr>
        <p:spPr>
          <a:xfrm>
            <a:off x="7150608" y="2468880"/>
            <a:ext cx="1371600" cy="320040"/>
          </a:xfrm>
          <a:prstGeom prst="rect">
            <a:avLst/>
          </a:prstGeom>
          <a:noFill/>
          <a:ln/>
        </p:spPr>
        <p:txBody>
          <a:bodyPr wrap="square" lIns="0" tIns="0" rIns="0" bIns="0" rtlCol="0" anchor="t"/>
          <a:lstStyle/>
          <a:p>
            <a:pPr algn="ctr" indent="0" marL="0">
              <a:buNone/>
            </a:pPr>
            <a:r>
              <a:rPr lang="en-US" sz="1400" b="1" dirty="0">
                <a:solidFill>
                  <a:srgbClr val="64748B"/>
                </a:solidFill>
                <a:latin typeface="Calibri" pitchFamily="34" charset="0"/>
                <a:ea typeface="Calibri" pitchFamily="34" charset="-122"/>
                <a:cs typeface="Calibri" pitchFamily="34" charset="-120"/>
              </a:rPr>
              <a:t>3</a:t>
            </a:r>
            <a:endParaRPr lang="en-US" sz="1400" dirty="0"/>
          </a:p>
        </p:txBody>
      </p:sp>
      <p:sp>
        <p:nvSpPr>
          <p:cNvPr id="29" name="Text 24"/>
          <p:cNvSpPr txBox="1"/>
          <p:nvPr/>
        </p:nvSpPr>
        <p:spPr>
          <a:xfrm>
            <a:off x="7223760" y="2788920"/>
            <a:ext cx="1225296" cy="365760"/>
          </a:xfrm>
          <a:prstGeom prst="rect">
            <a:avLst/>
          </a:prstGeom>
          <a:noFill/>
          <a:ln/>
        </p:spPr>
        <p:txBody>
          <a:bodyPr wrap="square" lIns="0" tIns="0" rIns="0" bIns="0" rtlCol="0" anchor="t"/>
          <a:lstStyle/>
          <a:p>
            <a:pPr algn="ctr" indent="0" marL="0">
              <a:buNone/>
            </a:pPr>
            <a:r>
              <a:rPr lang="en-US" sz="1400" b="1" dirty="0">
                <a:solidFill>
                  <a:srgbClr val="0B1F3A"/>
                </a:solidFill>
                <a:latin typeface="Calibri" pitchFamily="34" charset="0"/>
                <a:ea typeface="Calibri" pitchFamily="34" charset="-122"/>
                <a:cs typeface="Calibri" pitchFamily="34" charset="-120"/>
              </a:rPr>
              <a:t>Duplicates</a:t>
            </a:r>
            <a:endParaRPr lang="en-US" sz="1400" dirty="0"/>
          </a:p>
        </p:txBody>
      </p:sp>
      <p:sp>
        <p:nvSpPr>
          <p:cNvPr id="30" name="Text 25"/>
          <p:cNvSpPr txBox="1"/>
          <p:nvPr/>
        </p:nvSpPr>
        <p:spPr>
          <a:xfrm>
            <a:off x="7242048" y="3200400"/>
            <a:ext cx="1188720" cy="868680"/>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Checked duplicate records</a:t>
            </a:r>
            <a:endParaRPr lang="en-US" sz="1200" dirty="0"/>
          </a:p>
        </p:txBody>
      </p:sp>
      <p:sp>
        <p:nvSpPr>
          <p:cNvPr id="31" name="Shape 26"/>
          <p:cNvSpPr/>
          <p:nvPr/>
        </p:nvSpPr>
        <p:spPr>
          <a:xfrm>
            <a:off x="8668512" y="1600200"/>
            <a:ext cx="1371600" cy="2514600"/>
          </a:xfrm>
          <a:prstGeom prst="roundRect">
            <a:avLst>
              <a:gd name="adj" fmla="val 6667"/>
            </a:avLst>
          </a:prstGeom>
          <a:solidFill>
            <a:srgbClr val="FFFFFF"/>
          </a:solidFill>
          <a:ln w="12700">
            <a:solidFill>
              <a:srgbClr val="FFFFFF"/>
            </a:solidFill>
            <a:prstDash val="solid"/>
          </a:ln>
          <a:effectLst>
            <a:outerShdw sx="100000" sy="100000" kx="0" ky="0" algn="bl" rotWithShape="0" blurRad="76200" dist="25400" dir="5400000">
              <a:srgbClr val="0F172A">
                <a:alpha val="12000"/>
              </a:srgbClr>
            </a:outerShdw>
          </a:effectLst>
        </p:spPr>
      </p:sp>
      <p:sp>
        <p:nvSpPr>
          <p:cNvPr id="32" name="Shape 27"/>
          <p:cNvSpPr/>
          <p:nvPr/>
        </p:nvSpPr>
        <p:spPr>
          <a:xfrm>
            <a:off x="9079992" y="1783080"/>
            <a:ext cx="548640" cy="548640"/>
          </a:xfrm>
          <a:prstGeom prst="ellipse">
            <a:avLst/>
          </a:prstGeom>
          <a:solidFill>
            <a:srgbClr val="1D4ED8"/>
          </a:solidFill>
          <a:ln w="12700">
            <a:solidFill>
              <a:srgbClr val="1D4ED8"/>
            </a:solidFill>
            <a:prstDash val="solid"/>
          </a:ln>
        </p:spPr>
      </p:sp>
      <p:pic>
        <p:nvPicPr>
          <p:cNvPr id="33" name="Image 3" descr="preencoded.png">    </p:cNvPr>
          <p:cNvPicPr>
            <a:picLocks noChangeAspect="1"/>
          </p:cNvPicPr>
          <p:nvPr/>
        </p:nvPicPr>
        <p:blipFill>
          <a:blip r:embed="rId4"/>
          <a:stretch>
            <a:fillRect/>
          </a:stretch>
        </p:blipFill>
        <p:spPr>
          <a:xfrm>
            <a:off x="9217152" y="1920240"/>
            <a:ext cx="274320" cy="274320"/>
          </a:xfrm>
          <a:prstGeom prst="rect">
            <a:avLst/>
          </a:prstGeom>
        </p:spPr>
      </p:pic>
      <p:sp>
        <p:nvSpPr>
          <p:cNvPr id="34" name="Text 28"/>
          <p:cNvSpPr txBox="1"/>
          <p:nvPr/>
        </p:nvSpPr>
        <p:spPr>
          <a:xfrm>
            <a:off x="8668512" y="2468880"/>
            <a:ext cx="1371600" cy="320040"/>
          </a:xfrm>
          <a:prstGeom prst="rect">
            <a:avLst/>
          </a:prstGeom>
          <a:noFill/>
          <a:ln/>
        </p:spPr>
        <p:txBody>
          <a:bodyPr wrap="square" lIns="0" tIns="0" rIns="0" bIns="0" rtlCol="0" anchor="t"/>
          <a:lstStyle/>
          <a:p>
            <a:pPr algn="ctr" indent="0" marL="0">
              <a:buNone/>
            </a:pPr>
            <a:r>
              <a:rPr lang="en-US" sz="1400" b="1" dirty="0">
                <a:solidFill>
                  <a:srgbClr val="64748B"/>
                </a:solidFill>
                <a:latin typeface="Calibri" pitchFamily="34" charset="0"/>
                <a:ea typeface="Calibri" pitchFamily="34" charset="-122"/>
                <a:cs typeface="Calibri" pitchFamily="34" charset="-120"/>
              </a:rPr>
              <a:t>4</a:t>
            </a:r>
            <a:endParaRPr lang="en-US" sz="1400" dirty="0"/>
          </a:p>
        </p:txBody>
      </p:sp>
      <p:sp>
        <p:nvSpPr>
          <p:cNvPr id="35" name="Text 29"/>
          <p:cNvSpPr txBox="1"/>
          <p:nvPr/>
        </p:nvSpPr>
        <p:spPr>
          <a:xfrm>
            <a:off x="8741664" y="2788920"/>
            <a:ext cx="1225296" cy="365760"/>
          </a:xfrm>
          <a:prstGeom prst="rect">
            <a:avLst/>
          </a:prstGeom>
          <a:noFill/>
          <a:ln/>
        </p:spPr>
        <p:txBody>
          <a:bodyPr wrap="square" lIns="0" tIns="0" rIns="0" bIns="0" rtlCol="0" anchor="t"/>
          <a:lstStyle/>
          <a:p>
            <a:pPr algn="ctr" indent="0" marL="0">
              <a:buNone/>
            </a:pPr>
            <a:r>
              <a:rPr lang="en-US" sz="1400" b="1" dirty="0">
                <a:solidFill>
                  <a:srgbClr val="0B1F3A"/>
                </a:solidFill>
                <a:latin typeface="Calibri" pitchFamily="34" charset="0"/>
                <a:ea typeface="Calibri" pitchFamily="34" charset="-122"/>
                <a:cs typeface="Calibri" pitchFamily="34" charset="-120"/>
              </a:rPr>
              <a:t>Data types</a:t>
            </a:r>
            <a:endParaRPr lang="en-US" sz="1400" dirty="0"/>
          </a:p>
        </p:txBody>
      </p:sp>
      <p:sp>
        <p:nvSpPr>
          <p:cNvPr id="36" name="Text 30"/>
          <p:cNvSpPr txBox="1"/>
          <p:nvPr/>
        </p:nvSpPr>
        <p:spPr>
          <a:xfrm>
            <a:off x="8759952" y="3200400"/>
            <a:ext cx="1188720" cy="868680"/>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Corrected types, including the date column</a:t>
            </a:r>
            <a:endParaRPr lang="en-US" sz="1200" dirty="0"/>
          </a:p>
        </p:txBody>
      </p:sp>
      <p:sp>
        <p:nvSpPr>
          <p:cNvPr id="37" name="Shape 31"/>
          <p:cNvSpPr/>
          <p:nvPr/>
        </p:nvSpPr>
        <p:spPr>
          <a:xfrm>
            <a:off x="10186416" y="1600200"/>
            <a:ext cx="1371600" cy="2514600"/>
          </a:xfrm>
          <a:prstGeom prst="roundRect">
            <a:avLst>
              <a:gd name="adj" fmla="val 6667"/>
            </a:avLst>
          </a:prstGeom>
          <a:solidFill>
            <a:srgbClr val="FFFFFF"/>
          </a:solidFill>
          <a:ln w="12700">
            <a:solidFill>
              <a:srgbClr val="FFFFFF"/>
            </a:solidFill>
            <a:prstDash val="solid"/>
          </a:ln>
          <a:effectLst>
            <a:outerShdw sx="100000" sy="100000" kx="0" ky="0" algn="bl" rotWithShape="0" blurRad="76200" dist="25400" dir="5400000">
              <a:srgbClr val="0F172A">
                <a:alpha val="12000"/>
              </a:srgbClr>
            </a:outerShdw>
          </a:effectLst>
        </p:spPr>
      </p:sp>
      <p:sp>
        <p:nvSpPr>
          <p:cNvPr id="38" name="Shape 32"/>
          <p:cNvSpPr/>
          <p:nvPr/>
        </p:nvSpPr>
        <p:spPr>
          <a:xfrm>
            <a:off x="10597896" y="1783080"/>
            <a:ext cx="548640" cy="548640"/>
          </a:xfrm>
          <a:prstGeom prst="ellipse">
            <a:avLst/>
          </a:prstGeom>
          <a:solidFill>
            <a:srgbClr val="14B8A6"/>
          </a:solidFill>
          <a:ln w="12700">
            <a:solidFill>
              <a:srgbClr val="14B8A6"/>
            </a:solidFill>
            <a:prstDash val="solid"/>
          </a:ln>
        </p:spPr>
      </p:sp>
      <p:pic>
        <p:nvPicPr>
          <p:cNvPr id="39" name="Image 4" descr="preencoded.png">    </p:cNvPr>
          <p:cNvPicPr>
            <a:picLocks noChangeAspect="1"/>
          </p:cNvPicPr>
          <p:nvPr/>
        </p:nvPicPr>
        <p:blipFill>
          <a:blip r:embed="rId5"/>
          <a:stretch>
            <a:fillRect/>
          </a:stretch>
        </p:blipFill>
        <p:spPr>
          <a:xfrm>
            <a:off x="10735056" y="1920240"/>
            <a:ext cx="274320" cy="274320"/>
          </a:xfrm>
          <a:prstGeom prst="rect">
            <a:avLst/>
          </a:prstGeom>
        </p:spPr>
      </p:pic>
      <p:sp>
        <p:nvSpPr>
          <p:cNvPr id="40" name="Text 33"/>
          <p:cNvSpPr txBox="1"/>
          <p:nvPr/>
        </p:nvSpPr>
        <p:spPr>
          <a:xfrm>
            <a:off x="10186416" y="2468880"/>
            <a:ext cx="1371600" cy="320040"/>
          </a:xfrm>
          <a:prstGeom prst="rect">
            <a:avLst/>
          </a:prstGeom>
          <a:noFill/>
          <a:ln/>
        </p:spPr>
        <p:txBody>
          <a:bodyPr wrap="square" lIns="0" tIns="0" rIns="0" bIns="0" rtlCol="0" anchor="t"/>
          <a:lstStyle/>
          <a:p>
            <a:pPr algn="ctr" indent="0" marL="0">
              <a:buNone/>
            </a:pPr>
            <a:r>
              <a:rPr lang="en-US" sz="1400" b="1" dirty="0">
                <a:solidFill>
                  <a:srgbClr val="64748B"/>
                </a:solidFill>
                <a:latin typeface="Calibri" pitchFamily="34" charset="0"/>
                <a:ea typeface="Calibri" pitchFamily="34" charset="-122"/>
                <a:cs typeface="Calibri" pitchFamily="34" charset="-120"/>
              </a:rPr>
              <a:t>5</a:t>
            </a:r>
            <a:endParaRPr lang="en-US" sz="1400" dirty="0"/>
          </a:p>
        </p:txBody>
      </p:sp>
      <p:sp>
        <p:nvSpPr>
          <p:cNvPr id="41" name="Text 34"/>
          <p:cNvSpPr txBox="1"/>
          <p:nvPr/>
        </p:nvSpPr>
        <p:spPr>
          <a:xfrm>
            <a:off x="10259568" y="2788920"/>
            <a:ext cx="1225296" cy="365760"/>
          </a:xfrm>
          <a:prstGeom prst="rect">
            <a:avLst/>
          </a:prstGeom>
          <a:noFill/>
          <a:ln/>
        </p:spPr>
        <p:txBody>
          <a:bodyPr wrap="square" lIns="0" tIns="0" rIns="0" bIns="0" rtlCol="0" anchor="t"/>
          <a:lstStyle/>
          <a:p>
            <a:pPr algn="ctr" indent="0" marL="0">
              <a:buNone/>
            </a:pPr>
            <a:r>
              <a:rPr lang="en-US" sz="1400" b="1" dirty="0">
                <a:solidFill>
                  <a:srgbClr val="0B1F3A"/>
                </a:solidFill>
                <a:latin typeface="Calibri" pitchFamily="34" charset="0"/>
                <a:ea typeface="Calibri" pitchFamily="34" charset="-122"/>
                <a:cs typeface="Calibri" pitchFamily="34" charset="-120"/>
              </a:rPr>
              <a:t>Save</a:t>
            </a:r>
            <a:endParaRPr lang="en-US" sz="1400" dirty="0"/>
          </a:p>
        </p:txBody>
      </p:sp>
      <p:sp>
        <p:nvSpPr>
          <p:cNvPr id="42" name="Text 35"/>
          <p:cNvSpPr txBox="1"/>
          <p:nvPr/>
        </p:nvSpPr>
        <p:spPr>
          <a:xfrm>
            <a:off x="10277856" y="3200400"/>
            <a:ext cx="1188720" cy="868680"/>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Saved as cleaned_data.csv</a:t>
            </a:r>
            <a:endParaRPr lang="en-US" sz="1200" dirty="0"/>
          </a:p>
        </p:txBody>
      </p:sp>
      <p:sp>
        <p:nvSpPr>
          <p:cNvPr id="43" name="Shape 36"/>
          <p:cNvSpPr/>
          <p:nvPr/>
        </p:nvSpPr>
        <p:spPr>
          <a:xfrm>
            <a:off x="4114800" y="4297680"/>
            <a:ext cx="7525512" cy="1371600"/>
          </a:xfrm>
          <a:prstGeom prst="roundRect">
            <a:avLst>
              <a:gd name="adj" fmla="val 6667"/>
            </a:avLst>
          </a:prstGeom>
          <a:solidFill>
            <a:srgbClr val="FFFFFF"/>
          </a:solidFill>
          <a:ln w="12700">
            <a:solidFill>
              <a:srgbClr val="FFFFFF"/>
            </a:solidFill>
            <a:prstDash val="solid"/>
          </a:ln>
          <a:effectLst>
            <a:outerShdw sx="100000" sy="100000" kx="0" ky="0" algn="bl" rotWithShape="0" blurRad="76200" dist="25400" dir="5400000">
              <a:srgbClr val="0F172A">
                <a:alpha val="12000"/>
              </a:srgbClr>
            </a:outerShdw>
          </a:effectLst>
        </p:spPr>
      </p:sp>
      <p:sp>
        <p:nvSpPr>
          <p:cNvPr id="44" name="Text 37"/>
          <p:cNvSpPr txBox="1"/>
          <p:nvPr/>
        </p:nvSpPr>
        <p:spPr>
          <a:xfrm>
            <a:off x="4297680" y="4389120"/>
            <a:ext cx="7132320" cy="274320"/>
          </a:xfrm>
          <a:prstGeom prst="rect">
            <a:avLst/>
          </a:prstGeom>
          <a:noFill/>
          <a:ln/>
        </p:spPr>
        <p:txBody>
          <a:bodyPr wrap="square" lIns="0" tIns="0" rIns="0" bIns="0" rtlCol="0" anchor="t"/>
          <a:lstStyle/>
          <a:p>
            <a:pPr indent="0" marL="0">
              <a:buNone/>
            </a:pPr>
            <a:r>
              <a:rPr lang="en-US" sz="1300" b="1" dirty="0">
                <a:solidFill>
                  <a:srgbClr val="0B1F3A"/>
                </a:solidFill>
                <a:latin typeface="Calibri" pitchFamily="34" charset="0"/>
                <a:ea typeface="Calibri" pitchFamily="34" charset="-122"/>
                <a:cs typeface="Calibri" pitchFamily="34" charset="-120"/>
              </a:rPr>
              <a:t>Dataset: </a:t>
            </a:r>
            <a:pPr indent="0" marL="0">
              <a:buNone/>
            </a:pPr>
            <a:r>
              <a:rPr lang="en-US" sz="1300" b="1" dirty="0">
                <a:solidFill>
                  <a:srgbClr val="1D4ED8"/>
                </a:solidFill>
                <a:latin typeface="Calibri" pitchFamily="34" charset="0"/>
                <a:ea typeface="Calibri" pitchFamily="34" charset="-122"/>
                <a:cs typeface="Calibri" pitchFamily="34" charset="-120"/>
              </a:rPr>
              <a:t>abhiva_dataset.csv</a:t>
            </a:r>
            <a:pPr indent="0" marL="0">
              <a:buNone/>
            </a:pPr>
            <a:r>
              <a:rPr lang="en-US" sz="1300" dirty="0">
                <a:solidFill>
                  <a:srgbClr val="64748B"/>
                </a:solidFill>
                <a:latin typeface="Calibri" pitchFamily="34" charset="0"/>
                <a:ea typeface="Calibri" pitchFamily="34" charset="-122"/>
                <a:cs typeface="Calibri" pitchFamily="34" charset="-120"/>
              </a:rPr>
              <a:t>   |   Key attributes</a:t>
            </a:r>
            <a:endParaRPr lang="en-US" sz="1300" dirty="0"/>
          </a:p>
        </p:txBody>
      </p:sp>
      <p:sp>
        <p:nvSpPr>
          <p:cNvPr id="45" name="Shape 38"/>
          <p:cNvSpPr/>
          <p:nvPr/>
        </p:nvSpPr>
        <p:spPr>
          <a:xfrm>
            <a:off x="4297680" y="4754880"/>
            <a:ext cx="1709928" cy="246888"/>
          </a:xfrm>
          <a:prstGeom prst="roundRect">
            <a:avLst>
              <a:gd name="adj" fmla="val 37037"/>
            </a:avLst>
          </a:prstGeom>
          <a:solidFill>
            <a:srgbClr val="F3F6FA"/>
          </a:solidFill>
          <a:ln w="12700">
            <a:solidFill>
              <a:srgbClr val="F3F6FA"/>
            </a:solidFill>
            <a:prstDash val="solid"/>
          </a:ln>
        </p:spPr>
      </p:sp>
      <p:sp>
        <p:nvSpPr>
          <p:cNvPr id="46" name="Text 39"/>
          <p:cNvSpPr txBox="1"/>
          <p:nvPr/>
        </p:nvSpPr>
        <p:spPr>
          <a:xfrm>
            <a:off x="4297680" y="4754880"/>
            <a:ext cx="1709928" cy="246888"/>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StudentID</a:t>
            </a:r>
            <a:endParaRPr lang="en-US" sz="1100" dirty="0"/>
          </a:p>
        </p:txBody>
      </p:sp>
      <p:sp>
        <p:nvSpPr>
          <p:cNvPr id="47" name="Shape 40"/>
          <p:cNvSpPr/>
          <p:nvPr/>
        </p:nvSpPr>
        <p:spPr>
          <a:xfrm>
            <a:off x="6099048" y="4754880"/>
            <a:ext cx="1709928" cy="246888"/>
          </a:xfrm>
          <a:prstGeom prst="roundRect">
            <a:avLst>
              <a:gd name="adj" fmla="val 37037"/>
            </a:avLst>
          </a:prstGeom>
          <a:solidFill>
            <a:srgbClr val="F3F6FA"/>
          </a:solidFill>
          <a:ln w="12700">
            <a:solidFill>
              <a:srgbClr val="F3F6FA"/>
            </a:solidFill>
            <a:prstDash val="solid"/>
          </a:ln>
        </p:spPr>
      </p:sp>
      <p:sp>
        <p:nvSpPr>
          <p:cNvPr id="48" name="Text 41"/>
          <p:cNvSpPr txBox="1"/>
          <p:nvPr/>
        </p:nvSpPr>
        <p:spPr>
          <a:xfrm>
            <a:off x="6099048" y="4754880"/>
            <a:ext cx="1709928" cy="246888"/>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StudentName</a:t>
            </a:r>
            <a:endParaRPr lang="en-US" sz="1100" dirty="0"/>
          </a:p>
        </p:txBody>
      </p:sp>
      <p:sp>
        <p:nvSpPr>
          <p:cNvPr id="49" name="Shape 42"/>
          <p:cNvSpPr/>
          <p:nvPr/>
        </p:nvSpPr>
        <p:spPr>
          <a:xfrm>
            <a:off x="7900416" y="4754880"/>
            <a:ext cx="1709928" cy="246888"/>
          </a:xfrm>
          <a:prstGeom prst="roundRect">
            <a:avLst>
              <a:gd name="adj" fmla="val 37037"/>
            </a:avLst>
          </a:prstGeom>
          <a:solidFill>
            <a:srgbClr val="F3F6FA"/>
          </a:solidFill>
          <a:ln w="12700">
            <a:solidFill>
              <a:srgbClr val="F3F6FA"/>
            </a:solidFill>
            <a:prstDash val="solid"/>
          </a:ln>
        </p:spPr>
      </p:sp>
      <p:sp>
        <p:nvSpPr>
          <p:cNvPr id="50" name="Text 43"/>
          <p:cNvSpPr txBox="1"/>
          <p:nvPr/>
        </p:nvSpPr>
        <p:spPr>
          <a:xfrm>
            <a:off x="7900416" y="4754880"/>
            <a:ext cx="1709928" cy="246888"/>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Grade</a:t>
            </a:r>
            <a:endParaRPr lang="en-US" sz="1100" dirty="0"/>
          </a:p>
        </p:txBody>
      </p:sp>
      <p:sp>
        <p:nvSpPr>
          <p:cNvPr id="51" name="Shape 44"/>
          <p:cNvSpPr/>
          <p:nvPr/>
        </p:nvSpPr>
        <p:spPr>
          <a:xfrm>
            <a:off x="9701784" y="4754880"/>
            <a:ext cx="1709928" cy="246888"/>
          </a:xfrm>
          <a:prstGeom prst="roundRect">
            <a:avLst>
              <a:gd name="adj" fmla="val 37037"/>
            </a:avLst>
          </a:prstGeom>
          <a:solidFill>
            <a:srgbClr val="F3F6FA"/>
          </a:solidFill>
          <a:ln w="12700">
            <a:solidFill>
              <a:srgbClr val="F3F6FA"/>
            </a:solidFill>
            <a:prstDash val="solid"/>
          </a:ln>
        </p:spPr>
      </p:sp>
      <p:sp>
        <p:nvSpPr>
          <p:cNvPr id="52" name="Text 45"/>
          <p:cNvSpPr txBox="1"/>
          <p:nvPr/>
        </p:nvSpPr>
        <p:spPr>
          <a:xfrm>
            <a:off x="9701784" y="4754880"/>
            <a:ext cx="1709928" cy="246888"/>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Subject</a:t>
            </a:r>
            <a:endParaRPr lang="en-US" sz="1100" dirty="0"/>
          </a:p>
        </p:txBody>
      </p:sp>
      <p:sp>
        <p:nvSpPr>
          <p:cNvPr id="53" name="Shape 46"/>
          <p:cNvSpPr/>
          <p:nvPr/>
        </p:nvSpPr>
        <p:spPr>
          <a:xfrm>
            <a:off x="4297680" y="5047488"/>
            <a:ext cx="1709928" cy="246888"/>
          </a:xfrm>
          <a:prstGeom prst="roundRect">
            <a:avLst>
              <a:gd name="adj" fmla="val 37037"/>
            </a:avLst>
          </a:prstGeom>
          <a:solidFill>
            <a:srgbClr val="F3F6FA"/>
          </a:solidFill>
          <a:ln w="12700">
            <a:solidFill>
              <a:srgbClr val="F3F6FA"/>
            </a:solidFill>
            <a:prstDash val="solid"/>
          </a:ln>
        </p:spPr>
      </p:sp>
      <p:sp>
        <p:nvSpPr>
          <p:cNvPr id="54" name="Text 47"/>
          <p:cNvSpPr txBox="1"/>
          <p:nvPr/>
        </p:nvSpPr>
        <p:spPr>
          <a:xfrm>
            <a:off x="4297680" y="5047488"/>
            <a:ext cx="1709928" cy="246888"/>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AssessmentID</a:t>
            </a:r>
            <a:endParaRPr lang="en-US" sz="1100" dirty="0"/>
          </a:p>
        </p:txBody>
      </p:sp>
      <p:sp>
        <p:nvSpPr>
          <p:cNvPr id="55" name="Shape 48"/>
          <p:cNvSpPr/>
          <p:nvPr/>
        </p:nvSpPr>
        <p:spPr>
          <a:xfrm>
            <a:off x="6099048" y="5047488"/>
            <a:ext cx="1709928" cy="246888"/>
          </a:xfrm>
          <a:prstGeom prst="roundRect">
            <a:avLst>
              <a:gd name="adj" fmla="val 37037"/>
            </a:avLst>
          </a:prstGeom>
          <a:solidFill>
            <a:srgbClr val="F3F6FA"/>
          </a:solidFill>
          <a:ln w="12700">
            <a:solidFill>
              <a:srgbClr val="F3F6FA"/>
            </a:solidFill>
            <a:prstDash val="solid"/>
          </a:ln>
        </p:spPr>
      </p:sp>
      <p:sp>
        <p:nvSpPr>
          <p:cNvPr id="56" name="Text 49"/>
          <p:cNvSpPr txBox="1"/>
          <p:nvPr/>
        </p:nvSpPr>
        <p:spPr>
          <a:xfrm>
            <a:off x="6099048" y="5047488"/>
            <a:ext cx="1709928" cy="246888"/>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QuestionID</a:t>
            </a:r>
            <a:endParaRPr lang="en-US" sz="1100" dirty="0"/>
          </a:p>
        </p:txBody>
      </p:sp>
      <p:sp>
        <p:nvSpPr>
          <p:cNvPr id="57" name="Shape 50"/>
          <p:cNvSpPr/>
          <p:nvPr/>
        </p:nvSpPr>
        <p:spPr>
          <a:xfrm>
            <a:off x="7900416" y="5047488"/>
            <a:ext cx="1709928" cy="246888"/>
          </a:xfrm>
          <a:prstGeom prst="roundRect">
            <a:avLst>
              <a:gd name="adj" fmla="val 37037"/>
            </a:avLst>
          </a:prstGeom>
          <a:solidFill>
            <a:srgbClr val="F3F6FA"/>
          </a:solidFill>
          <a:ln w="12700">
            <a:solidFill>
              <a:srgbClr val="F3F6FA"/>
            </a:solidFill>
            <a:prstDash val="solid"/>
          </a:ln>
        </p:spPr>
      </p:sp>
      <p:sp>
        <p:nvSpPr>
          <p:cNvPr id="58" name="Text 51"/>
          <p:cNvSpPr txBox="1"/>
          <p:nvPr/>
        </p:nvSpPr>
        <p:spPr>
          <a:xfrm>
            <a:off x="7900416" y="5047488"/>
            <a:ext cx="1709928" cy="246888"/>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TotalMarks</a:t>
            </a:r>
            <a:endParaRPr lang="en-US" sz="1100" dirty="0"/>
          </a:p>
        </p:txBody>
      </p:sp>
      <p:sp>
        <p:nvSpPr>
          <p:cNvPr id="59" name="Shape 52"/>
          <p:cNvSpPr/>
          <p:nvPr/>
        </p:nvSpPr>
        <p:spPr>
          <a:xfrm>
            <a:off x="9701784" y="5047488"/>
            <a:ext cx="1709928" cy="246888"/>
          </a:xfrm>
          <a:prstGeom prst="roundRect">
            <a:avLst>
              <a:gd name="adj" fmla="val 37037"/>
            </a:avLst>
          </a:prstGeom>
          <a:solidFill>
            <a:srgbClr val="F3F6FA"/>
          </a:solidFill>
          <a:ln w="12700">
            <a:solidFill>
              <a:srgbClr val="F3F6FA"/>
            </a:solidFill>
            <a:prstDash val="solid"/>
          </a:ln>
        </p:spPr>
      </p:sp>
      <p:sp>
        <p:nvSpPr>
          <p:cNvPr id="60" name="Text 53"/>
          <p:cNvSpPr txBox="1"/>
          <p:nvPr/>
        </p:nvSpPr>
        <p:spPr>
          <a:xfrm>
            <a:off x="9701784" y="5047488"/>
            <a:ext cx="1709928" cy="246888"/>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MarksObtained</a:t>
            </a:r>
            <a:endParaRPr lang="en-US" sz="1100" dirty="0"/>
          </a:p>
        </p:txBody>
      </p:sp>
      <p:sp>
        <p:nvSpPr>
          <p:cNvPr id="61" name="Shape 54"/>
          <p:cNvSpPr/>
          <p:nvPr/>
        </p:nvSpPr>
        <p:spPr>
          <a:xfrm>
            <a:off x="4297680" y="5340096"/>
            <a:ext cx="1709928" cy="246888"/>
          </a:xfrm>
          <a:prstGeom prst="roundRect">
            <a:avLst>
              <a:gd name="adj" fmla="val 37037"/>
            </a:avLst>
          </a:prstGeom>
          <a:solidFill>
            <a:srgbClr val="F3F6FA"/>
          </a:solidFill>
          <a:ln w="12700">
            <a:solidFill>
              <a:srgbClr val="F3F6FA"/>
            </a:solidFill>
            <a:prstDash val="solid"/>
          </a:ln>
        </p:spPr>
      </p:sp>
      <p:sp>
        <p:nvSpPr>
          <p:cNvPr id="62" name="Text 55"/>
          <p:cNvSpPr txBox="1"/>
          <p:nvPr/>
        </p:nvSpPr>
        <p:spPr>
          <a:xfrm>
            <a:off x="4297680" y="5340096"/>
            <a:ext cx="1709928" cy="246888"/>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Percentage</a:t>
            </a:r>
            <a:endParaRPr lang="en-US" sz="1100" dirty="0"/>
          </a:p>
        </p:txBody>
      </p:sp>
      <p:sp>
        <p:nvSpPr>
          <p:cNvPr id="63" name="Shape 56"/>
          <p:cNvSpPr/>
          <p:nvPr/>
        </p:nvSpPr>
        <p:spPr>
          <a:xfrm>
            <a:off x="6099048" y="5340096"/>
            <a:ext cx="1709928" cy="246888"/>
          </a:xfrm>
          <a:prstGeom prst="roundRect">
            <a:avLst>
              <a:gd name="adj" fmla="val 37037"/>
            </a:avLst>
          </a:prstGeom>
          <a:solidFill>
            <a:srgbClr val="F3F6FA"/>
          </a:solidFill>
          <a:ln w="12700">
            <a:solidFill>
              <a:srgbClr val="F3F6FA"/>
            </a:solidFill>
            <a:prstDash val="solid"/>
          </a:ln>
        </p:spPr>
      </p:sp>
      <p:sp>
        <p:nvSpPr>
          <p:cNvPr id="64" name="Text 57"/>
          <p:cNvSpPr txBox="1"/>
          <p:nvPr/>
        </p:nvSpPr>
        <p:spPr>
          <a:xfrm>
            <a:off x="6099048" y="5340096"/>
            <a:ext cx="1709928" cy="246888"/>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AttemptDate</a:t>
            </a:r>
            <a:endParaRPr lang="en-US" sz="1100" dirty="0"/>
          </a:p>
        </p:txBody>
      </p:sp>
      <p:sp>
        <p:nvSpPr>
          <p:cNvPr id="65" name="Shape 58"/>
          <p:cNvSpPr/>
          <p:nvPr/>
        </p:nvSpPr>
        <p:spPr>
          <a:xfrm>
            <a:off x="7900416" y="5340096"/>
            <a:ext cx="1709928" cy="246888"/>
          </a:xfrm>
          <a:prstGeom prst="roundRect">
            <a:avLst>
              <a:gd name="adj" fmla="val 37037"/>
            </a:avLst>
          </a:prstGeom>
          <a:solidFill>
            <a:srgbClr val="F3F6FA"/>
          </a:solidFill>
          <a:ln w="12700">
            <a:solidFill>
              <a:srgbClr val="F3F6FA"/>
            </a:solidFill>
            <a:prstDash val="solid"/>
          </a:ln>
        </p:spPr>
      </p:sp>
      <p:sp>
        <p:nvSpPr>
          <p:cNvPr id="66" name="Text 59"/>
          <p:cNvSpPr txBox="1"/>
          <p:nvPr/>
        </p:nvSpPr>
        <p:spPr>
          <a:xfrm>
            <a:off x="7900416" y="5340096"/>
            <a:ext cx="1709928" cy="246888"/>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TeacherName</a:t>
            </a:r>
            <a:endParaRPr lang="en-US" sz="1100" dirty="0"/>
          </a:p>
        </p:txBody>
      </p:sp>
      <p:sp>
        <p:nvSpPr>
          <p:cNvPr id="67" name="Shape 60"/>
          <p:cNvSpPr/>
          <p:nvPr/>
        </p:nvSpPr>
        <p:spPr>
          <a:xfrm>
            <a:off x="9701784" y="5340096"/>
            <a:ext cx="1709928" cy="246888"/>
          </a:xfrm>
          <a:prstGeom prst="roundRect">
            <a:avLst>
              <a:gd name="adj" fmla="val 37037"/>
            </a:avLst>
          </a:prstGeom>
          <a:solidFill>
            <a:srgbClr val="F3F6FA"/>
          </a:solidFill>
          <a:ln w="12700">
            <a:solidFill>
              <a:srgbClr val="F3F6FA"/>
            </a:solidFill>
            <a:prstDash val="solid"/>
          </a:ln>
        </p:spPr>
      </p:sp>
      <p:sp>
        <p:nvSpPr>
          <p:cNvPr id="68" name="Text 61"/>
          <p:cNvSpPr txBox="1"/>
          <p:nvPr/>
        </p:nvSpPr>
        <p:spPr>
          <a:xfrm>
            <a:off x="9701784" y="5340096"/>
            <a:ext cx="1709928" cy="246888"/>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AttendanceStatus</a:t>
            </a:r>
            <a:endParaRPr lang="en-US" sz="1100" dirty="0"/>
          </a:p>
        </p:txBody>
      </p:sp>
      <p:sp>
        <p:nvSpPr>
          <p:cNvPr id="69" name="Shape 62"/>
          <p:cNvSpPr/>
          <p:nvPr/>
        </p:nvSpPr>
        <p:spPr>
          <a:xfrm>
            <a:off x="548640" y="5852160"/>
            <a:ext cx="1998878" cy="411480"/>
          </a:xfrm>
          <a:prstGeom prst="roundRect">
            <a:avLst>
              <a:gd name="adj" fmla="val 22222"/>
            </a:avLst>
          </a:prstGeom>
          <a:solidFill>
            <a:srgbClr val="14B8A6"/>
          </a:solidFill>
          <a:ln w="9525">
            <a:solidFill>
              <a:srgbClr val="14B8A6"/>
            </a:solidFill>
            <a:prstDash val="solid"/>
          </a:ln>
        </p:spPr>
      </p:sp>
      <p:sp>
        <p:nvSpPr>
          <p:cNvPr id="70" name="Text 63"/>
          <p:cNvSpPr txBox="1"/>
          <p:nvPr/>
        </p:nvSpPr>
        <p:spPr>
          <a:xfrm>
            <a:off x="548640" y="5852160"/>
            <a:ext cx="1998878" cy="411480"/>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abhiva_dataset.csv</a:t>
            </a:r>
            <a:endParaRPr lang="en-US" sz="1100" dirty="0"/>
          </a:p>
        </p:txBody>
      </p:sp>
      <p:sp>
        <p:nvSpPr>
          <p:cNvPr id="71" name="Shape 64"/>
          <p:cNvSpPr/>
          <p:nvPr/>
        </p:nvSpPr>
        <p:spPr>
          <a:xfrm>
            <a:off x="2584094" y="5957316"/>
            <a:ext cx="201168" cy="201168"/>
          </a:xfrm>
          <a:prstGeom prst="rightArrow">
            <a:avLst/>
          </a:prstGeom>
          <a:solidFill>
            <a:srgbClr val="64748B"/>
          </a:solidFill>
          <a:ln w="12700">
            <a:solidFill>
              <a:srgbClr val="64748B"/>
            </a:solidFill>
            <a:prstDash val="solid"/>
          </a:ln>
        </p:spPr>
      </p:sp>
      <p:sp>
        <p:nvSpPr>
          <p:cNvPr id="72" name="Shape 65"/>
          <p:cNvSpPr/>
          <p:nvPr/>
        </p:nvSpPr>
        <p:spPr>
          <a:xfrm>
            <a:off x="2821838" y="5852160"/>
            <a:ext cx="1998878" cy="411480"/>
          </a:xfrm>
          <a:prstGeom prst="roundRect">
            <a:avLst>
              <a:gd name="adj" fmla="val 22222"/>
            </a:avLst>
          </a:prstGeom>
          <a:solidFill>
            <a:srgbClr val="14B8A6"/>
          </a:solidFill>
          <a:ln w="9525">
            <a:solidFill>
              <a:srgbClr val="14B8A6"/>
            </a:solidFill>
            <a:prstDash val="solid"/>
          </a:ln>
        </p:spPr>
      </p:sp>
      <p:sp>
        <p:nvSpPr>
          <p:cNvPr id="73" name="Text 66"/>
          <p:cNvSpPr txBox="1"/>
          <p:nvPr/>
        </p:nvSpPr>
        <p:spPr>
          <a:xfrm>
            <a:off x="2821838" y="5852160"/>
            <a:ext cx="1998878" cy="411480"/>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Python cleaning</a:t>
            </a:r>
            <a:endParaRPr lang="en-US" sz="1100" dirty="0"/>
          </a:p>
        </p:txBody>
      </p:sp>
      <p:sp>
        <p:nvSpPr>
          <p:cNvPr id="74" name="Shape 67"/>
          <p:cNvSpPr/>
          <p:nvPr/>
        </p:nvSpPr>
        <p:spPr>
          <a:xfrm>
            <a:off x="4857293" y="5957316"/>
            <a:ext cx="201168" cy="201168"/>
          </a:xfrm>
          <a:prstGeom prst="rightArrow">
            <a:avLst/>
          </a:prstGeom>
          <a:solidFill>
            <a:srgbClr val="64748B"/>
          </a:solidFill>
          <a:ln w="12700">
            <a:solidFill>
              <a:srgbClr val="64748B"/>
            </a:solidFill>
            <a:prstDash val="solid"/>
          </a:ln>
        </p:spPr>
      </p:sp>
      <p:sp>
        <p:nvSpPr>
          <p:cNvPr id="75" name="Shape 68"/>
          <p:cNvSpPr/>
          <p:nvPr/>
        </p:nvSpPr>
        <p:spPr>
          <a:xfrm>
            <a:off x="5095037" y="5852160"/>
            <a:ext cx="1998878" cy="411480"/>
          </a:xfrm>
          <a:prstGeom prst="roundRect">
            <a:avLst>
              <a:gd name="adj" fmla="val 22222"/>
            </a:avLst>
          </a:prstGeom>
          <a:solidFill>
            <a:srgbClr val="14B8A6"/>
          </a:solidFill>
          <a:ln w="9525">
            <a:solidFill>
              <a:srgbClr val="14B8A6"/>
            </a:solidFill>
            <a:prstDash val="solid"/>
          </a:ln>
        </p:spPr>
      </p:sp>
      <p:sp>
        <p:nvSpPr>
          <p:cNvPr id="76" name="Text 69"/>
          <p:cNvSpPr txBox="1"/>
          <p:nvPr/>
        </p:nvSpPr>
        <p:spPr>
          <a:xfrm>
            <a:off x="5095037" y="5852160"/>
            <a:ext cx="1998878" cy="411480"/>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cleaned_data.csv</a:t>
            </a:r>
            <a:endParaRPr lang="en-US" sz="1100" dirty="0"/>
          </a:p>
        </p:txBody>
      </p:sp>
      <p:sp>
        <p:nvSpPr>
          <p:cNvPr id="77" name="Shape 70"/>
          <p:cNvSpPr/>
          <p:nvPr/>
        </p:nvSpPr>
        <p:spPr>
          <a:xfrm>
            <a:off x="7130491" y="5957316"/>
            <a:ext cx="201168" cy="201168"/>
          </a:xfrm>
          <a:prstGeom prst="rightArrow">
            <a:avLst/>
          </a:prstGeom>
          <a:solidFill>
            <a:srgbClr val="64748B"/>
          </a:solidFill>
          <a:ln w="12700">
            <a:solidFill>
              <a:srgbClr val="64748B"/>
            </a:solidFill>
            <a:prstDash val="solid"/>
          </a:ln>
        </p:spPr>
      </p:sp>
      <p:sp>
        <p:nvSpPr>
          <p:cNvPr id="78" name="Shape 71"/>
          <p:cNvSpPr/>
          <p:nvPr/>
        </p:nvSpPr>
        <p:spPr>
          <a:xfrm>
            <a:off x="7368235" y="5852160"/>
            <a:ext cx="1998878" cy="411480"/>
          </a:xfrm>
          <a:prstGeom prst="roundRect">
            <a:avLst>
              <a:gd name="adj" fmla="val 22222"/>
            </a:avLst>
          </a:prstGeom>
          <a:solidFill>
            <a:srgbClr val="FFFFFF"/>
          </a:solidFill>
          <a:ln w="9525">
            <a:solidFill>
              <a:srgbClr val="D5DEEA"/>
            </a:solidFill>
            <a:prstDash val="solid"/>
          </a:ln>
        </p:spPr>
      </p:sp>
      <p:sp>
        <p:nvSpPr>
          <p:cNvPr id="79" name="Text 72"/>
          <p:cNvSpPr txBox="1"/>
          <p:nvPr/>
        </p:nvSpPr>
        <p:spPr>
          <a:xfrm>
            <a:off x="7368235" y="5852160"/>
            <a:ext cx="1998878" cy="411480"/>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MySQL analysis</a:t>
            </a:r>
            <a:endParaRPr lang="en-US" sz="1100" dirty="0"/>
          </a:p>
        </p:txBody>
      </p:sp>
      <p:sp>
        <p:nvSpPr>
          <p:cNvPr id="80" name="Shape 73"/>
          <p:cNvSpPr/>
          <p:nvPr/>
        </p:nvSpPr>
        <p:spPr>
          <a:xfrm>
            <a:off x="9403690" y="5957316"/>
            <a:ext cx="201168" cy="201168"/>
          </a:xfrm>
          <a:prstGeom prst="rightArrow">
            <a:avLst/>
          </a:prstGeom>
          <a:solidFill>
            <a:srgbClr val="64748B"/>
          </a:solidFill>
          <a:ln w="12700">
            <a:solidFill>
              <a:srgbClr val="64748B"/>
            </a:solidFill>
            <a:prstDash val="solid"/>
          </a:ln>
        </p:spPr>
      </p:sp>
      <p:sp>
        <p:nvSpPr>
          <p:cNvPr id="81" name="Shape 74"/>
          <p:cNvSpPr/>
          <p:nvPr/>
        </p:nvSpPr>
        <p:spPr>
          <a:xfrm>
            <a:off x="9641434" y="5852160"/>
            <a:ext cx="1998878" cy="411480"/>
          </a:xfrm>
          <a:prstGeom prst="roundRect">
            <a:avLst>
              <a:gd name="adj" fmla="val 22222"/>
            </a:avLst>
          </a:prstGeom>
          <a:solidFill>
            <a:srgbClr val="FFFFFF"/>
          </a:solidFill>
          <a:ln w="9525">
            <a:solidFill>
              <a:srgbClr val="D5DEEA"/>
            </a:solidFill>
            <a:prstDash val="solid"/>
          </a:ln>
        </p:spPr>
      </p:sp>
      <p:sp>
        <p:nvSpPr>
          <p:cNvPr id="82" name="Text 75"/>
          <p:cNvSpPr txBox="1"/>
          <p:nvPr/>
        </p:nvSpPr>
        <p:spPr>
          <a:xfrm>
            <a:off x="9641434" y="5852160"/>
            <a:ext cx="1998878" cy="411480"/>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Power BI dashboard</a:t>
            </a:r>
            <a:endParaRPr lang="en-US" sz="1100" dirty="0"/>
          </a:p>
        </p:txBody>
      </p:sp>
      <p:sp>
        <p:nvSpPr>
          <p:cNvPr id="25" name="Slide Number Placeholder 0"/>
          <p:cNvSpPr>
            <a:spLocks noGrp="1"/>
          </p:cNvSpPr>
          <p:nvPr>
            <p:ph type="sldNum" sz="quarter" idx="4294967295"/>
          </p:nvPr>
        </p:nvSpPr>
        <p:spPr>
          <a:xfrm>
            <a:off x="11155680" y="6419088"/>
            <a:ext cx="48463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731520"/>
          </a:xfrm>
          <a:prstGeom prst="rect">
            <a:avLst/>
          </a:prstGeom>
          <a:noFill/>
          <a:ln/>
        </p:spPr>
        <p:txBody>
          <a:bodyPr wrap="square" lIns="0" tIns="0" rIns="0" bIns="0" rtlCol="0" anchor="ctr"/>
          <a:lstStyle/>
          <a:p>
            <a:pPr indent="0" marL="0">
              <a:buNone/>
            </a:pPr>
            <a:r>
              <a:rPr lang="en-US" sz="3400" b="1" dirty="0">
                <a:solidFill>
                  <a:srgbClr val="0B1F3A"/>
                </a:solidFill>
                <a:latin typeface="Calibri" pitchFamily="34" charset="0"/>
                <a:ea typeface="Calibri" pitchFamily="34" charset="-122"/>
                <a:cs typeface="Calibri" pitchFamily="34" charset="-120"/>
              </a:rPr>
              <a:t>Exploratory Data Analysis and SQL</a:t>
            </a:r>
            <a:endParaRPr lang="en-US" sz="3400" dirty="0"/>
          </a:p>
        </p:txBody>
      </p:sp>
      <p:sp>
        <p:nvSpPr>
          <p:cNvPr id="3" name="Shape 1"/>
          <p:cNvSpPr/>
          <p:nvPr/>
        </p:nvSpPr>
        <p:spPr>
          <a:xfrm>
            <a:off x="548640" y="1280160"/>
            <a:ext cx="5486400" cy="4434840"/>
          </a:xfrm>
          <a:prstGeom prst="roundRect">
            <a:avLst>
              <a:gd name="adj" fmla="val 2062"/>
            </a:avLst>
          </a:prstGeom>
          <a:solidFill>
            <a:srgbClr val="FFFFFF"/>
          </a:solidFill>
          <a:ln w="12700">
            <a:solidFill>
              <a:srgbClr val="FFFFFF"/>
            </a:solidFill>
            <a:prstDash val="solid"/>
          </a:ln>
          <a:effectLst>
            <a:outerShdw sx="100000" sy="100000" kx="0" ky="0" algn="bl" rotWithShape="0" blurRad="76200" dist="25400" dir="5400000">
              <a:srgbClr val="0F172A">
                <a:alpha val="12000"/>
              </a:srgbClr>
            </a:outerShdw>
          </a:effectLst>
        </p:spPr>
      </p:sp>
      <p:sp>
        <p:nvSpPr>
          <p:cNvPr id="4" name="Shape 2"/>
          <p:cNvSpPr/>
          <p:nvPr/>
        </p:nvSpPr>
        <p:spPr>
          <a:xfrm>
            <a:off x="777240" y="1417320"/>
            <a:ext cx="457200" cy="457200"/>
          </a:xfrm>
          <a:prstGeom prst="ellipse">
            <a:avLst/>
          </a:prstGeom>
          <a:solidFill>
            <a:srgbClr val="14B8A6"/>
          </a:solidFill>
          <a:ln w="12700">
            <a:solidFill>
              <a:srgbClr val="14B8A6"/>
            </a:solidFill>
            <a:prstDash val="solid"/>
          </a:ln>
        </p:spPr>
      </p:sp>
      <p:pic>
        <p:nvPicPr>
          <p:cNvPr id="5" name="Image 0" descr="preencoded.png">    </p:cNvPr>
          <p:cNvPicPr>
            <a:picLocks noChangeAspect="1"/>
          </p:cNvPicPr>
          <p:nvPr/>
        </p:nvPicPr>
        <p:blipFill>
          <a:blip r:embed="rId1"/>
          <a:stretch>
            <a:fillRect/>
          </a:stretch>
        </p:blipFill>
        <p:spPr>
          <a:xfrm>
            <a:off x="891540" y="1531620"/>
            <a:ext cx="228600" cy="228600"/>
          </a:xfrm>
          <a:prstGeom prst="rect">
            <a:avLst/>
          </a:prstGeom>
        </p:spPr>
      </p:pic>
      <p:sp>
        <p:nvSpPr>
          <p:cNvPr id="6" name="Text 3"/>
          <p:cNvSpPr txBox="1"/>
          <p:nvPr/>
        </p:nvSpPr>
        <p:spPr>
          <a:xfrm>
            <a:off x="1371600" y="1417320"/>
            <a:ext cx="3657600" cy="457200"/>
          </a:xfrm>
          <a:prstGeom prst="rect">
            <a:avLst/>
          </a:prstGeom>
          <a:noFill/>
          <a:ln/>
        </p:spPr>
        <p:txBody>
          <a:bodyPr wrap="square" lIns="0" tIns="0" rIns="0" bIns="0" rtlCol="0" anchor="ctr"/>
          <a:lstStyle/>
          <a:p>
            <a:pPr indent="0" marL="0">
              <a:buNone/>
            </a:pPr>
            <a:r>
              <a:rPr lang="en-US" sz="2000" b="1" dirty="0">
                <a:solidFill>
                  <a:srgbClr val="0B1F3A"/>
                </a:solidFill>
                <a:latin typeface="Calibri" pitchFamily="34" charset="0"/>
                <a:ea typeface="Calibri" pitchFamily="34" charset="-122"/>
                <a:cs typeface="Calibri" pitchFamily="34" charset="-120"/>
              </a:rPr>
              <a:t>Python analysis</a:t>
            </a:r>
            <a:endParaRPr lang="en-US" sz="2000" dirty="0"/>
          </a:p>
        </p:txBody>
      </p:sp>
      <p:graphicFrame>
        <p:nvGraphicFramePr>
          <p:cNvPr id="7" name="Chart 0" descr=""/>
          <p:cNvGraphicFramePr/>
          <p:nvPr/>
        </p:nvGraphicFramePr>
        <p:xfrm>
          <a:off x="777240" y="1965960"/>
          <a:ext cx="2377440" cy="1234440"/>
        </p:xfrm>
        <a:graphic xmlns:a="http://schemas.openxmlformats.org/drawingml/2006/main">
          <a:graphicData uri="http://schemas.openxmlformats.org/drawingml/2006/chart">
            <c:chart xmlns:c="http://schemas.openxmlformats.org/drawingml/2006/chart" r:id="rId2"/>
          </a:graphicData>
        </a:graphic>
      </p:graphicFrame>
      <p:graphicFrame>
        <p:nvGraphicFramePr>
          <p:cNvPr id="8" name="Chart 1" descr=""/>
          <p:cNvGraphicFramePr/>
          <p:nvPr/>
        </p:nvGraphicFramePr>
        <p:xfrm>
          <a:off x="3291840" y="1965960"/>
          <a:ext cx="2468880" cy="1234440"/>
        </p:xfrm>
        <a:graphic xmlns:a="http://schemas.openxmlformats.org/drawingml/2006/main">
          <a:graphicData uri="http://schemas.openxmlformats.org/drawingml/2006/chart">
            <c:chart xmlns:c="http://schemas.openxmlformats.org/drawingml/2006/chart" r:id="rId3"/>
          </a:graphicData>
        </a:graphic>
      </p:graphicFrame>
      <p:sp>
        <p:nvSpPr>
          <p:cNvPr id="9" name="Text 4"/>
          <p:cNvSpPr txBox="1"/>
          <p:nvPr/>
        </p:nvSpPr>
        <p:spPr>
          <a:xfrm>
            <a:off x="777240" y="3218688"/>
            <a:ext cx="4937760" cy="228600"/>
          </a:xfrm>
          <a:prstGeom prst="rect">
            <a:avLst/>
          </a:prstGeom>
          <a:noFill/>
          <a:ln/>
        </p:spPr>
        <p:txBody>
          <a:bodyPr wrap="square" lIns="0" tIns="0" rIns="0" bIns="0" rtlCol="0" anchor="t"/>
          <a:lstStyle/>
          <a:p>
            <a:pPr indent="0" marL="0">
              <a:buNone/>
            </a:pPr>
            <a:r>
              <a:rPr lang="en-US" sz="1100" i="1" dirty="0">
                <a:solidFill>
                  <a:srgbClr val="64748B"/>
                </a:solidFill>
                <a:latin typeface="Calibri" pitchFamily="34" charset="0"/>
                <a:ea typeface="Calibri" pitchFamily="34" charset="-122"/>
                <a:cs typeface="Calibri" pitchFamily="34" charset="-120"/>
              </a:rPr>
              <a:t>Illustrative sample charts, not project results</a:t>
            </a:r>
            <a:endParaRPr lang="en-US" sz="1100" dirty="0"/>
          </a:p>
        </p:txBody>
      </p:sp>
      <p:sp>
        <p:nvSpPr>
          <p:cNvPr id="10" name="Text 5"/>
          <p:cNvSpPr txBox="1"/>
          <p:nvPr/>
        </p:nvSpPr>
        <p:spPr>
          <a:xfrm>
            <a:off x="777240" y="3520440"/>
            <a:ext cx="5074920" cy="210312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0F172A"/>
                </a:solidFill>
                <a:latin typeface="Calibri" pitchFamily="34" charset="0"/>
                <a:ea typeface="Calibri" pitchFamily="34" charset="-122"/>
                <a:cs typeface="Calibri" pitchFamily="34" charset="-120"/>
              </a:rPr>
              <a:t>10 visualizations: Matplotlib, Seaborn, Pandas</a:t>
            </a:r>
            <a:endParaRPr lang="en-US" sz="1400" dirty="0"/>
          </a:p>
          <a:p>
            <a:pPr marL="342900" indent="-342900">
              <a:spcAft>
                <a:spcPts val="300"/>
              </a:spcAft>
              <a:buSzPct val="100000"/>
              <a:buChar char="•"/>
            </a:pPr>
            <a:r>
              <a:rPr lang="en-US" sz="1400" dirty="0">
                <a:solidFill>
                  <a:srgbClr val="0F172A"/>
                </a:solidFill>
                <a:latin typeface="Calibri" pitchFamily="34" charset="0"/>
                <a:ea typeface="Calibri" pitchFamily="34" charset="-122"/>
                <a:cs typeface="Calibri" pitchFamily="34" charset="-120"/>
              </a:rPr>
              <a:t>Subject-wise performance</a:t>
            </a:r>
            <a:endParaRPr lang="en-US" sz="1400" dirty="0"/>
          </a:p>
          <a:p>
            <a:pPr marL="342900" indent="-342900">
              <a:spcAft>
                <a:spcPts val="300"/>
              </a:spcAft>
              <a:buSzPct val="100000"/>
              <a:buChar char="•"/>
            </a:pPr>
            <a:r>
              <a:rPr lang="en-US" sz="1400" dirty="0">
                <a:solidFill>
                  <a:srgbClr val="0F172A"/>
                </a:solidFill>
                <a:latin typeface="Calibri" pitchFamily="34" charset="0"/>
                <a:ea typeface="Calibri" pitchFamily="34" charset="-122"/>
                <a:cs typeface="Calibri" pitchFamily="34" charset="-120"/>
              </a:rPr>
              <a:t>Attendance and percentage distribution</a:t>
            </a:r>
            <a:endParaRPr lang="en-US" sz="1400" dirty="0"/>
          </a:p>
          <a:p>
            <a:pPr marL="342900" indent="-342900">
              <a:spcAft>
                <a:spcPts val="300"/>
              </a:spcAft>
              <a:buSzPct val="100000"/>
              <a:buChar char="•"/>
            </a:pPr>
            <a:r>
              <a:rPr lang="en-US" sz="1400" dirty="0">
                <a:solidFill>
                  <a:srgbClr val="0F172A"/>
                </a:solidFill>
                <a:latin typeface="Calibri" pitchFamily="34" charset="0"/>
                <a:ea typeface="Calibri" pitchFamily="34" charset="-122"/>
                <a:cs typeface="Calibri" pitchFamily="34" charset="-120"/>
              </a:rPr>
              <a:t>Performance trends over time</a:t>
            </a:r>
            <a:endParaRPr lang="en-US" sz="1400" dirty="0"/>
          </a:p>
          <a:p>
            <a:pPr marL="342900" indent="-342900">
              <a:spcAft>
                <a:spcPts val="300"/>
              </a:spcAft>
              <a:buSzPct val="100000"/>
              <a:buChar char="•"/>
            </a:pPr>
            <a:r>
              <a:rPr lang="en-US" sz="1400" dirty="0">
                <a:solidFill>
                  <a:srgbClr val="0F172A"/>
                </a:solidFill>
                <a:latin typeface="Calibri" pitchFamily="34" charset="0"/>
                <a:ea typeface="Calibri" pitchFamily="34" charset="-122"/>
                <a:cs typeface="Calibri" pitchFamily="34" charset="-120"/>
              </a:rPr>
              <a:t>Marks obtained versus total marks</a:t>
            </a:r>
            <a:endParaRPr lang="en-US" sz="1400" dirty="0"/>
          </a:p>
          <a:p>
            <a:pPr marL="342900" indent="-342900">
              <a:spcAft>
                <a:spcPts val="300"/>
              </a:spcAft>
              <a:buSzPct val="100000"/>
              <a:buChar char="•"/>
            </a:pPr>
            <a:r>
              <a:rPr lang="en-US" sz="1400" dirty="0">
                <a:solidFill>
                  <a:srgbClr val="0F172A"/>
                </a:solidFill>
                <a:latin typeface="Calibri" pitchFamily="34" charset="0"/>
                <a:ea typeface="Calibri" pitchFamily="34" charset="-122"/>
                <a:cs typeface="Calibri" pitchFamily="34" charset="-120"/>
              </a:rPr>
              <a:t>Grade-wise and teacher-wise performance</a:t>
            </a:r>
            <a:endParaRPr lang="en-US" sz="1400" dirty="0"/>
          </a:p>
        </p:txBody>
      </p:sp>
      <p:sp>
        <p:nvSpPr>
          <p:cNvPr id="11" name="Shape 6"/>
          <p:cNvSpPr/>
          <p:nvPr/>
        </p:nvSpPr>
        <p:spPr>
          <a:xfrm>
            <a:off x="6126480" y="3200400"/>
            <a:ext cx="548640" cy="548640"/>
          </a:xfrm>
          <a:prstGeom prst="ellipse">
            <a:avLst/>
          </a:prstGeom>
          <a:solidFill>
            <a:srgbClr val="14B8A6"/>
          </a:solidFill>
          <a:ln w="12700">
            <a:solidFill>
              <a:srgbClr val="14B8A6"/>
            </a:solidFill>
            <a:prstDash val="solid"/>
          </a:ln>
        </p:spPr>
      </p:sp>
      <p:pic>
        <p:nvPicPr>
          <p:cNvPr id="12" name="Image 1" descr="preencoded.png">    </p:cNvPr>
          <p:cNvPicPr>
            <a:picLocks noChangeAspect="1"/>
          </p:cNvPicPr>
          <p:nvPr/>
        </p:nvPicPr>
        <p:blipFill>
          <a:blip r:embed="rId4"/>
          <a:stretch>
            <a:fillRect/>
          </a:stretch>
        </p:blipFill>
        <p:spPr>
          <a:xfrm>
            <a:off x="6263640" y="3337560"/>
            <a:ext cx="274320" cy="274320"/>
          </a:xfrm>
          <a:prstGeom prst="rect">
            <a:avLst/>
          </a:prstGeom>
        </p:spPr>
      </p:pic>
      <p:sp>
        <p:nvSpPr>
          <p:cNvPr id="13" name="Shape 7"/>
          <p:cNvSpPr/>
          <p:nvPr/>
        </p:nvSpPr>
        <p:spPr>
          <a:xfrm>
            <a:off x="6766560" y="1280160"/>
            <a:ext cx="4873752" cy="4434840"/>
          </a:xfrm>
          <a:prstGeom prst="roundRect">
            <a:avLst>
              <a:gd name="adj" fmla="val 2062"/>
            </a:avLst>
          </a:prstGeom>
          <a:solidFill>
            <a:srgbClr val="0B1F3A"/>
          </a:solidFill>
          <a:ln w="12700">
            <a:solidFill>
              <a:srgbClr val="0B1F3A"/>
            </a:solidFill>
            <a:prstDash val="solid"/>
          </a:ln>
          <a:effectLst>
            <a:outerShdw sx="100000" sy="100000" kx="0" ky="0" algn="bl" rotWithShape="0" blurRad="76200" dist="25400" dir="5400000">
              <a:srgbClr val="0F172A">
                <a:alpha val="12000"/>
              </a:srgbClr>
            </a:outerShdw>
          </a:effectLst>
        </p:spPr>
      </p:sp>
      <p:sp>
        <p:nvSpPr>
          <p:cNvPr id="14" name="Shape 8"/>
          <p:cNvSpPr/>
          <p:nvPr/>
        </p:nvSpPr>
        <p:spPr>
          <a:xfrm>
            <a:off x="6995160" y="1417320"/>
            <a:ext cx="457200" cy="457200"/>
          </a:xfrm>
          <a:prstGeom prst="ellipse">
            <a:avLst/>
          </a:prstGeom>
          <a:solidFill>
            <a:srgbClr val="1D4ED8"/>
          </a:solidFill>
          <a:ln w="12700">
            <a:solidFill>
              <a:srgbClr val="1D4ED8"/>
            </a:solidFill>
            <a:prstDash val="solid"/>
          </a:ln>
        </p:spPr>
      </p:sp>
      <p:pic>
        <p:nvPicPr>
          <p:cNvPr id="15" name="Image 2" descr="preencoded.png">    </p:cNvPr>
          <p:cNvPicPr>
            <a:picLocks noChangeAspect="1"/>
          </p:cNvPicPr>
          <p:nvPr/>
        </p:nvPicPr>
        <p:blipFill>
          <a:blip r:embed="rId5"/>
          <a:stretch>
            <a:fillRect/>
          </a:stretch>
        </p:blipFill>
        <p:spPr>
          <a:xfrm>
            <a:off x="7109460" y="1531620"/>
            <a:ext cx="228600" cy="228600"/>
          </a:xfrm>
          <a:prstGeom prst="rect">
            <a:avLst/>
          </a:prstGeom>
        </p:spPr>
      </p:pic>
      <p:sp>
        <p:nvSpPr>
          <p:cNvPr id="16" name="Text 9"/>
          <p:cNvSpPr txBox="1"/>
          <p:nvPr/>
        </p:nvSpPr>
        <p:spPr>
          <a:xfrm>
            <a:off x="7589520" y="1417320"/>
            <a:ext cx="3931920" cy="4572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SQL analysis: MySQL Workbench</a:t>
            </a:r>
            <a:endParaRPr lang="en-US" sz="1800" dirty="0"/>
          </a:p>
        </p:txBody>
      </p:sp>
      <p:sp>
        <p:nvSpPr>
          <p:cNvPr id="17" name="Shape 10"/>
          <p:cNvSpPr/>
          <p:nvPr/>
        </p:nvSpPr>
        <p:spPr>
          <a:xfrm>
            <a:off x="6995160" y="2011680"/>
            <a:ext cx="4416552" cy="1600200"/>
          </a:xfrm>
          <a:prstGeom prst="roundRect">
            <a:avLst>
              <a:gd name="adj" fmla="val 5714"/>
            </a:avLst>
          </a:prstGeom>
          <a:solidFill>
            <a:srgbClr val="081528"/>
          </a:solidFill>
          <a:ln w="12700">
            <a:solidFill>
              <a:srgbClr val="081528"/>
            </a:solidFill>
            <a:prstDash val="solid"/>
          </a:ln>
        </p:spPr>
      </p:sp>
      <p:sp>
        <p:nvSpPr>
          <p:cNvPr id="18" name="Text 11"/>
          <p:cNvSpPr txBox="1"/>
          <p:nvPr/>
        </p:nvSpPr>
        <p:spPr>
          <a:xfrm>
            <a:off x="7178040" y="2103120"/>
            <a:ext cx="4114800" cy="1188720"/>
          </a:xfrm>
          <a:prstGeom prst="rect">
            <a:avLst/>
          </a:prstGeom>
          <a:noFill/>
          <a:ln/>
        </p:spPr>
        <p:txBody>
          <a:bodyPr wrap="square" lIns="0" tIns="0" rIns="0" bIns="0" rtlCol="0" anchor="t"/>
          <a:lstStyle/>
          <a:p>
            <a:pPr indent="0" marL="0">
              <a:buNone/>
            </a:pPr>
            <a:r>
              <a:rPr lang="en-US" sz="1200" dirty="0">
                <a:solidFill>
                  <a:srgbClr val="7DD3C8"/>
                </a:solidFill>
                <a:latin typeface="Courier New" pitchFamily="34" charset="0"/>
                <a:ea typeface="Courier New" pitchFamily="34" charset="-122"/>
                <a:cs typeface="Courier New" pitchFamily="34" charset="-120"/>
              </a:rPr>
              <a:t>SELECT Subject, AVG(Percentage)</a:t>
            </a:r>
            <a:endParaRPr lang="en-US" sz="1200" dirty="0"/>
          </a:p>
          <a:p>
            <a:pPr indent="0" marL="0">
              <a:buNone/>
            </a:pPr>
            <a:r>
              <a:rPr lang="en-US" sz="1200" dirty="0">
                <a:solidFill>
                  <a:srgbClr val="7DD3C8"/>
                </a:solidFill>
                <a:latin typeface="Courier New" pitchFamily="34" charset="0"/>
                <a:ea typeface="Courier New" pitchFamily="34" charset="-122"/>
                <a:cs typeface="Courier New" pitchFamily="34" charset="-120"/>
              </a:rPr>
              <a:t>FROM student_data</a:t>
            </a:r>
            <a:endParaRPr lang="en-US" sz="1200" dirty="0"/>
          </a:p>
          <a:p>
            <a:pPr indent="0" marL="0">
              <a:buNone/>
            </a:pPr>
            <a:r>
              <a:rPr lang="en-US" sz="1200" dirty="0">
                <a:solidFill>
                  <a:srgbClr val="7DD3C8"/>
                </a:solidFill>
                <a:latin typeface="Courier New" pitchFamily="34" charset="0"/>
                <a:ea typeface="Courier New" pitchFamily="34" charset="-122"/>
                <a:cs typeface="Courier New" pitchFamily="34" charset="-120"/>
              </a:rPr>
              <a:t>GROUP BY Subject</a:t>
            </a:r>
            <a:endParaRPr lang="en-US" sz="1200" dirty="0"/>
          </a:p>
          <a:p>
            <a:pPr indent="0" marL="0">
              <a:buNone/>
            </a:pPr>
            <a:r>
              <a:rPr lang="en-US" sz="1200" dirty="0">
                <a:solidFill>
                  <a:srgbClr val="7DD3C8"/>
                </a:solidFill>
                <a:latin typeface="Courier New" pitchFamily="34" charset="0"/>
                <a:ea typeface="Courier New" pitchFamily="34" charset="-122"/>
                <a:cs typeface="Courier New" pitchFamily="34" charset="-120"/>
              </a:rPr>
              <a:t>HAVING COUNT(*) &gt; 0</a:t>
            </a:r>
            <a:endParaRPr lang="en-US" sz="1200" dirty="0"/>
          </a:p>
          <a:p>
            <a:pPr indent="0" marL="0">
              <a:buNone/>
            </a:pPr>
            <a:r>
              <a:rPr lang="en-US" sz="1200" dirty="0">
                <a:solidFill>
                  <a:srgbClr val="7DD3C8"/>
                </a:solidFill>
                <a:latin typeface="Courier New" pitchFamily="34" charset="0"/>
                <a:ea typeface="Courier New" pitchFamily="34" charset="-122"/>
                <a:cs typeface="Courier New" pitchFamily="34" charset="-120"/>
              </a:rPr>
              <a:t>ORDER BY AVG(Percentage) DESC;</a:t>
            </a:r>
            <a:endParaRPr lang="en-US" sz="1200" dirty="0"/>
          </a:p>
        </p:txBody>
      </p:sp>
      <p:sp>
        <p:nvSpPr>
          <p:cNvPr id="19" name="Text 12"/>
          <p:cNvSpPr txBox="1"/>
          <p:nvPr/>
        </p:nvSpPr>
        <p:spPr>
          <a:xfrm>
            <a:off x="7178040" y="3337560"/>
            <a:ext cx="4023360" cy="228600"/>
          </a:xfrm>
          <a:prstGeom prst="rect">
            <a:avLst/>
          </a:prstGeom>
          <a:noFill/>
          <a:ln/>
        </p:spPr>
        <p:txBody>
          <a:bodyPr wrap="square" lIns="0" tIns="0" rIns="0" bIns="0" rtlCol="0" anchor="t"/>
          <a:lstStyle/>
          <a:p>
            <a:pPr indent="0" marL="0">
              <a:buNone/>
            </a:pPr>
            <a:r>
              <a:rPr lang="en-US" sz="1000" i="1" dirty="0">
                <a:solidFill>
                  <a:srgbClr val="94A3B8"/>
                </a:solidFill>
                <a:latin typeface="Calibri" pitchFamily="34" charset="0"/>
                <a:ea typeface="Calibri" pitchFamily="34" charset="-122"/>
                <a:cs typeface="Calibri" pitchFamily="34" charset="-120"/>
              </a:rPr>
              <a:t>Simplified illustration of a query</a:t>
            </a:r>
            <a:endParaRPr lang="en-US" sz="1000" dirty="0"/>
          </a:p>
        </p:txBody>
      </p:sp>
      <p:sp>
        <p:nvSpPr>
          <p:cNvPr id="20" name="Shape 13"/>
          <p:cNvSpPr/>
          <p:nvPr/>
        </p:nvSpPr>
        <p:spPr>
          <a:xfrm>
            <a:off x="6995160" y="3749040"/>
            <a:ext cx="4416552" cy="411480"/>
          </a:xfrm>
          <a:prstGeom prst="roundRect">
            <a:avLst>
              <a:gd name="adj" fmla="val 22222"/>
            </a:avLst>
          </a:prstGeom>
          <a:solidFill>
            <a:srgbClr val="13305A"/>
          </a:solidFill>
          <a:ln w="12700">
            <a:solidFill>
              <a:srgbClr val="13305A"/>
            </a:solidFill>
            <a:prstDash val="solid"/>
          </a:ln>
        </p:spPr>
      </p:sp>
      <p:sp>
        <p:nvSpPr>
          <p:cNvPr id="21" name="Text 14"/>
          <p:cNvSpPr txBox="1"/>
          <p:nvPr/>
        </p:nvSpPr>
        <p:spPr>
          <a:xfrm>
            <a:off x="7132320" y="3749040"/>
            <a:ext cx="219456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Retrieval and filtering</a:t>
            </a:r>
            <a:endParaRPr lang="en-US" sz="1300" dirty="0"/>
          </a:p>
        </p:txBody>
      </p:sp>
      <p:sp>
        <p:nvSpPr>
          <p:cNvPr id="22" name="Text 15"/>
          <p:cNvSpPr txBox="1"/>
          <p:nvPr/>
        </p:nvSpPr>
        <p:spPr>
          <a:xfrm>
            <a:off x="9281160" y="3749040"/>
            <a:ext cx="2103120" cy="411480"/>
          </a:xfrm>
          <a:prstGeom prst="rect">
            <a:avLst/>
          </a:prstGeom>
          <a:noFill/>
          <a:ln/>
        </p:spPr>
        <p:txBody>
          <a:bodyPr wrap="square" lIns="0" tIns="0" rIns="0" bIns="0" rtlCol="0" anchor="ctr"/>
          <a:lstStyle/>
          <a:p>
            <a:pPr algn="r" indent="0" marL="0">
              <a:buNone/>
            </a:pPr>
            <a:r>
              <a:rPr lang="en-US" sz="1200" b="1" dirty="0">
                <a:solidFill>
                  <a:srgbClr val="14B8A6"/>
                </a:solidFill>
                <a:latin typeface="Calibri" pitchFamily="34" charset="0"/>
                <a:ea typeface="Calibri" pitchFamily="34" charset="-122"/>
                <a:cs typeface="Calibri" pitchFamily="34" charset="-120"/>
              </a:rPr>
              <a:t>SELECT, WHERE</a:t>
            </a:r>
            <a:endParaRPr lang="en-US" sz="1200" dirty="0"/>
          </a:p>
        </p:txBody>
      </p:sp>
      <p:sp>
        <p:nvSpPr>
          <p:cNvPr id="23" name="Shape 16"/>
          <p:cNvSpPr/>
          <p:nvPr/>
        </p:nvSpPr>
        <p:spPr>
          <a:xfrm>
            <a:off x="6995160" y="4224528"/>
            <a:ext cx="4416552" cy="411480"/>
          </a:xfrm>
          <a:prstGeom prst="roundRect">
            <a:avLst>
              <a:gd name="adj" fmla="val 22222"/>
            </a:avLst>
          </a:prstGeom>
          <a:solidFill>
            <a:srgbClr val="13305A"/>
          </a:solidFill>
          <a:ln w="12700">
            <a:solidFill>
              <a:srgbClr val="13305A"/>
            </a:solidFill>
            <a:prstDash val="solid"/>
          </a:ln>
        </p:spPr>
      </p:sp>
      <p:sp>
        <p:nvSpPr>
          <p:cNvPr id="24" name="Text 17"/>
          <p:cNvSpPr txBox="1"/>
          <p:nvPr/>
        </p:nvSpPr>
        <p:spPr>
          <a:xfrm>
            <a:off x="7132320" y="4224528"/>
            <a:ext cx="219456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Sorting and unique values</a:t>
            </a:r>
            <a:endParaRPr lang="en-US" sz="1300" dirty="0"/>
          </a:p>
        </p:txBody>
      </p:sp>
      <p:sp>
        <p:nvSpPr>
          <p:cNvPr id="25" name="Text 18"/>
          <p:cNvSpPr txBox="1"/>
          <p:nvPr/>
        </p:nvSpPr>
        <p:spPr>
          <a:xfrm>
            <a:off x="9281160" y="4224528"/>
            <a:ext cx="2103120" cy="411480"/>
          </a:xfrm>
          <a:prstGeom prst="rect">
            <a:avLst/>
          </a:prstGeom>
          <a:noFill/>
          <a:ln/>
        </p:spPr>
        <p:txBody>
          <a:bodyPr wrap="square" lIns="0" tIns="0" rIns="0" bIns="0" rtlCol="0" anchor="ctr"/>
          <a:lstStyle/>
          <a:p>
            <a:pPr algn="r" indent="0" marL="0">
              <a:buNone/>
            </a:pPr>
            <a:r>
              <a:rPr lang="en-US" sz="1200" b="1" dirty="0">
                <a:solidFill>
                  <a:srgbClr val="14B8A6"/>
                </a:solidFill>
                <a:latin typeface="Calibri" pitchFamily="34" charset="0"/>
                <a:ea typeface="Calibri" pitchFamily="34" charset="-122"/>
                <a:cs typeface="Calibri" pitchFamily="34" charset="-120"/>
              </a:rPr>
              <a:t>ORDER BY, DISTINCT</a:t>
            </a:r>
            <a:endParaRPr lang="en-US" sz="1200" dirty="0"/>
          </a:p>
        </p:txBody>
      </p:sp>
      <p:sp>
        <p:nvSpPr>
          <p:cNvPr id="26" name="Shape 19"/>
          <p:cNvSpPr/>
          <p:nvPr/>
        </p:nvSpPr>
        <p:spPr>
          <a:xfrm>
            <a:off x="6995160" y="4700016"/>
            <a:ext cx="4416552" cy="411480"/>
          </a:xfrm>
          <a:prstGeom prst="roundRect">
            <a:avLst>
              <a:gd name="adj" fmla="val 22222"/>
            </a:avLst>
          </a:prstGeom>
          <a:solidFill>
            <a:srgbClr val="13305A"/>
          </a:solidFill>
          <a:ln w="12700">
            <a:solidFill>
              <a:srgbClr val="13305A"/>
            </a:solidFill>
            <a:prstDash val="solid"/>
          </a:ln>
        </p:spPr>
      </p:sp>
      <p:sp>
        <p:nvSpPr>
          <p:cNvPr id="27" name="Text 20"/>
          <p:cNvSpPr txBox="1"/>
          <p:nvPr/>
        </p:nvSpPr>
        <p:spPr>
          <a:xfrm>
            <a:off x="7132320" y="4700016"/>
            <a:ext cx="219456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Aggregations</a:t>
            </a:r>
            <a:endParaRPr lang="en-US" sz="1300" dirty="0"/>
          </a:p>
        </p:txBody>
      </p:sp>
      <p:sp>
        <p:nvSpPr>
          <p:cNvPr id="28" name="Text 21"/>
          <p:cNvSpPr txBox="1"/>
          <p:nvPr/>
        </p:nvSpPr>
        <p:spPr>
          <a:xfrm>
            <a:off x="9281160" y="4700016"/>
            <a:ext cx="2103120" cy="411480"/>
          </a:xfrm>
          <a:prstGeom prst="rect">
            <a:avLst/>
          </a:prstGeom>
          <a:noFill/>
          <a:ln/>
        </p:spPr>
        <p:txBody>
          <a:bodyPr wrap="square" lIns="0" tIns="0" rIns="0" bIns="0" rtlCol="0" anchor="ctr"/>
          <a:lstStyle/>
          <a:p>
            <a:pPr algn="r" indent="0" marL="0">
              <a:buNone/>
            </a:pPr>
            <a:r>
              <a:rPr lang="en-US" sz="1200" b="1" dirty="0">
                <a:solidFill>
                  <a:srgbClr val="14B8A6"/>
                </a:solidFill>
                <a:latin typeface="Calibri" pitchFamily="34" charset="0"/>
                <a:ea typeface="Calibri" pitchFamily="34" charset="-122"/>
                <a:cs typeface="Calibri" pitchFamily="34" charset="-120"/>
              </a:rPr>
              <a:t>COUNT, SUM, AVG, MIN, MAX</a:t>
            </a:r>
            <a:endParaRPr lang="en-US" sz="1200" dirty="0"/>
          </a:p>
        </p:txBody>
      </p:sp>
      <p:sp>
        <p:nvSpPr>
          <p:cNvPr id="29" name="Shape 22"/>
          <p:cNvSpPr/>
          <p:nvPr/>
        </p:nvSpPr>
        <p:spPr>
          <a:xfrm>
            <a:off x="6995160" y="5175504"/>
            <a:ext cx="4416552" cy="411480"/>
          </a:xfrm>
          <a:prstGeom prst="roundRect">
            <a:avLst>
              <a:gd name="adj" fmla="val 22222"/>
            </a:avLst>
          </a:prstGeom>
          <a:solidFill>
            <a:srgbClr val="13305A"/>
          </a:solidFill>
          <a:ln w="12700">
            <a:solidFill>
              <a:srgbClr val="13305A"/>
            </a:solidFill>
            <a:prstDash val="solid"/>
          </a:ln>
        </p:spPr>
      </p:sp>
      <p:sp>
        <p:nvSpPr>
          <p:cNvPr id="30" name="Text 23"/>
          <p:cNvSpPr txBox="1"/>
          <p:nvPr/>
        </p:nvSpPr>
        <p:spPr>
          <a:xfrm>
            <a:off x="7132320" y="5175504"/>
            <a:ext cx="219456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Grouped analysis</a:t>
            </a:r>
            <a:endParaRPr lang="en-US" sz="1300" dirty="0"/>
          </a:p>
        </p:txBody>
      </p:sp>
      <p:sp>
        <p:nvSpPr>
          <p:cNvPr id="31" name="Text 24"/>
          <p:cNvSpPr txBox="1"/>
          <p:nvPr/>
        </p:nvSpPr>
        <p:spPr>
          <a:xfrm>
            <a:off x="9281160" y="5175504"/>
            <a:ext cx="2103120" cy="411480"/>
          </a:xfrm>
          <a:prstGeom prst="rect">
            <a:avLst/>
          </a:prstGeom>
          <a:noFill/>
          <a:ln/>
        </p:spPr>
        <p:txBody>
          <a:bodyPr wrap="square" lIns="0" tIns="0" rIns="0" bIns="0" rtlCol="0" anchor="ctr"/>
          <a:lstStyle/>
          <a:p>
            <a:pPr algn="r" indent="0" marL="0">
              <a:buNone/>
            </a:pPr>
            <a:r>
              <a:rPr lang="en-US" sz="1200" b="1" dirty="0">
                <a:solidFill>
                  <a:srgbClr val="14B8A6"/>
                </a:solidFill>
                <a:latin typeface="Calibri" pitchFamily="34" charset="0"/>
                <a:ea typeface="Calibri" pitchFamily="34" charset="-122"/>
                <a:cs typeface="Calibri" pitchFamily="34" charset="-120"/>
              </a:rPr>
              <a:t>GROUP BY, HAVING</a:t>
            </a:r>
            <a:endParaRPr lang="en-US" sz="1200" dirty="0"/>
          </a:p>
        </p:txBody>
      </p:sp>
      <p:sp>
        <p:nvSpPr>
          <p:cNvPr id="32" name="Shape 25"/>
          <p:cNvSpPr/>
          <p:nvPr/>
        </p:nvSpPr>
        <p:spPr>
          <a:xfrm>
            <a:off x="548640" y="5852160"/>
            <a:ext cx="1998878" cy="411480"/>
          </a:xfrm>
          <a:prstGeom prst="roundRect">
            <a:avLst>
              <a:gd name="adj" fmla="val 22222"/>
            </a:avLst>
          </a:prstGeom>
          <a:solidFill>
            <a:srgbClr val="FFFFFF"/>
          </a:solidFill>
          <a:ln w="9525">
            <a:solidFill>
              <a:srgbClr val="D5DEEA"/>
            </a:solidFill>
            <a:prstDash val="solid"/>
          </a:ln>
        </p:spPr>
      </p:sp>
      <p:sp>
        <p:nvSpPr>
          <p:cNvPr id="33" name="Text 26"/>
          <p:cNvSpPr txBox="1"/>
          <p:nvPr/>
        </p:nvSpPr>
        <p:spPr>
          <a:xfrm>
            <a:off x="548640" y="5852160"/>
            <a:ext cx="1998878" cy="411480"/>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abhiva_dataset.csv</a:t>
            </a:r>
            <a:endParaRPr lang="en-US" sz="1100" dirty="0"/>
          </a:p>
        </p:txBody>
      </p:sp>
      <p:sp>
        <p:nvSpPr>
          <p:cNvPr id="34" name="Shape 27"/>
          <p:cNvSpPr/>
          <p:nvPr/>
        </p:nvSpPr>
        <p:spPr>
          <a:xfrm>
            <a:off x="2584094" y="5957316"/>
            <a:ext cx="201168" cy="201168"/>
          </a:xfrm>
          <a:prstGeom prst="rightArrow">
            <a:avLst/>
          </a:prstGeom>
          <a:solidFill>
            <a:srgbClr val="64748B"/>
          </a:solidFill>
          <a:ln w="12700">
            <a:solidFill>
              <a:srgbClr val="64748B"/>
            </a:solidFill>
            <a:prstDash val="solid"/>
          </a:ln>
        </p:spPr>
      </p:sp>
      <p:sp>
        <p:nvSpPr>
          <p:cNvPr id="35" name="Shape 28"/>
          <p:cNvSpPr/>
          <p:nvPr/>
        </p:nvSpPr>
        <p:spPr>
          <a:xfrm>
            <a:off x="2821838" y="5852160"/>
            <a:ext cx="1998878" cy="411480"/>
          </a:xfrm>
          <a:prstGeom prst="roundRect">
            <a:avLst>
              <a:gd name="adj" fmla="val 22222"/>
            </a:avLst>
          </a:prstGeom>
          <a:solidFill>
            <a:srgbClr val="14B8A6"/>
          </a:solidFill>
          <a:ln w="9525">
            <a:solidFill>
              <a:srgbClr val="14B8A6"/>
            </a:solidFill>
            <a:prstDash val="solid"/>
          </a:ln>
        </p:spPr>
      </p:sp>
      <p:sp>
        <p:nvSpPr>
          <p:cNvPr id="36" name="Text 29"/>
          <p:cNvSpPr txBox="1"/>
          <p:nvPr/>
        </p:nvSpPr>
        <p:spPr>
          <a:xfrm>
            <a:off x="2821838" y="5852160"/>
            <a:ext cx="1998878" cy="411480"/>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Python cleaning</a:t>
            </a:r>
            <a:endParaRPr lang="en-US" sz="1100" dirty="0"/>
          </a:p>
        </p:txBody>
      </p:sp>
      <p:sp>
        <p:nvSpPr>
          <p:cNvPr id="37" name="Shape 30"/>
          <p:cNvSpPr/>
          <p:nvPr/>
        </p:nvSpPr>
        <p:spPr>
          <a:xfrm>
            <a:off x="4857293" y="5957316"/>
            <a:ext cx="201168" cy="201168"/>
          </a:xfrm>
          <a:prstGeom prst="rightArrow">
            <a:avLst/>
          </a:prstGeom>
          <a:solidFill>
            <a:srgbClr val="64748B"/>
          </a:solidFill>
          <a:ln w="12700">
            <a:solidFill>
              <a:srgbClr val="64748B"/>
            </a:solidFill>
            <a:prstDash val="solid"/>
          </a:ln>
        </p:spPr>
      </p:sp>
      <p:sp>
        <p:nvSpPr>
          <p:cNvPr id="38" name="Shape 31"/>
          <p:cNvSpPr/>
          <p:nvPr/>
        </p:nvSpPr>
        <p:spPr>
          <a:xfrm>
            <a:off x="5095037" y="5852160"/>
            <a:ext cx="1998878" cy="411480"/>
          </a:xfrm>
          <a:prstGeom prst="roundRect">
            <a:avLst>
              <a:gd name="adj" fmla="val 22222"/>
            </a:avLst>
          </a:prstGeom>
          <a:solidFill>
            <a:srgbClr val="FFFFFF"/>
          </a:solidFill>
          <a:ln w="9525">
            <a:solidFill>
              <a:srgbClr val="D5DEEA"/>
            </a:solidFill>
            <a:prstDash val="solid"/>
          </a:ln>
        </p:spPr>
      </p:sp>
      <p:sp>
        <p:nvSpPr>
          <p:cNvPr id="39" name="Text 32"/>
          <p:cNvSpPr txBox="1"/>
          <p:nvPr/>
        </p:nvSpPr>
        <p:spPr>
          <a:xfrm>
            <a:off x="5095037" y="5852160"/>
            <a:ext cx="1998878" cy="411480"/>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cleaned_data.csv</a:t>
            </a:r>
            <a:endParaRPr lang="en-US" sz="1100" dirty="0"/>
          </a:p>
        </p:txBody>
      </p:sp>
      <p:sp>
        <p:nvSpPr>
          <p:cNvPr id="40" name="Shape 33"/>
          <p:cNvSpPr/>
          <p:nvPr/>
        </p:nvSpPr>
        <p:spPr>
          <a:xfrm>
            <a:off x="7130491" y="5957316"/>
            <a:ext cx="201168" cy="201168"/>
          </a:xfrm>
          <a:prstGeom prst="rightArrow">
            <a:avLst/>
          </a:prstGeom>
          <a:solidFill>
            <a:srgbClr val="64748B"/>
          </a:solidFill>
          <a:ln w="12700">
            <a:solidFill>
              <a:srgbClr val="64748B"/>
            </a:solidFill>
            <a:prstDash val="solid"/>
          </a:ln>
        </p:spPr>
      </p:sp>
      <p:sp>
        <p:nvSpPr>
          <p:cNvPr id="41" name="Shape 34"/>
          <p:cNvSpPr/>
          <p:nvPr/>
        </p:nvSpPr>
        <p:spPr>
          <a:xfrm>
            <a:off x="7368235" y="5852160"/>
            <a:ext cx="1998878" cy="411480"/>
          </a:xfrm>
          <a:prstGeom prst="roundRect">
            <a:avLst>
              <a:gd name="adj" fmla="val 22222"/>
            </a:avLst>
          </a:prstGeom>
          <a:solidFill>
            <a:srgbClr val="14B8A6"/>
          </a:solidFill>
          <a:ln w="9525">
            <a:solidFill>
              <a:srgbClr val="14B8A6"/>
            </a:solidFill>
            <a:prstDash val="solid"/>
          </a:ln>
        </p:spPr>
      </p:sp>
      <p:sp>
        <p:nvSpPr>
          <p:cNvPr id="42" name="Text 35"/>
          <p:cNvSpPr txBox="1"/>
          <p:nvPr/>
        </p:nvSpPr>
        <p:spPr>
          <a:xfrm>
            <a:off x="7368235" y="5852160"/>
            <a:ext cx="1998878" cy="411480"/>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MySQL analysis</a:t>
            </a:r>
            <a:endParaRPr lang="en-US" sz="1100" dirty="0"/>
          </a:p>
        </p:txBody>
      </p:sp>
      <p:sp>
        <p:nvSpPr>
          <p:cNvPr id="43" name="Shape 36"/>
          <p:cNvSpPr/>
          <p:nvPr/>
        </p:nvSpPr>
        <p:spPr>
          <a:xfrm>
            <a:off x="9403690" y="5957316"/>
            <a:ext cx="201168" cy="201168"/>
          </a:xfrm>
          <a:prstGeom prst="rightArrow">
            <a:avLst/>
          </a:prstGeom>
          <a:solidFill>
            <a:srgbClr val="64748B"/>
          </a:solidFill>
          <a:ln w="12700">
            <a:solidFill>
              <a:srgbClr val="64748B"/>
            </a:solidFill>
            <a:prstDash val="solid"/>
          </a:ln>
        </p:spPr>
      </p:sp>
      <p:sp>
        <p:nvSpPr>
          <p:cNvPr id="44" name="Shape 37"/>
          <p:cNvSpPr/>
          <p:nvPr/>
        </p:nvSpPr>
        <p:spPr>
          <a:xfrm>
            <a:off x="9641434" y="5852160"/>
            <a:ext cx="1998878" cy="411480"/>
          </a:xfrm>
          <a:prstGeom prst="roundRect">
            <a:avLst>
              <a:gd name="adj" fmla="val 22222"/>
            </a:avLst>
          </a:prstGeom>
          <a:solidFill>
            <a:srgbClr val="FFFFFF"/>
          </a:solidFill>
          <a:ln w="9525">
            <a:solidFill>
              <a:srgbClr val="D5DEEA"/>
            </a:solidFill>
            <a:prstDash val="solid"/>
          </a:ln>
        </p:spPr>
      </p:sp>
      <p:sp>
        <p:nvSpPr>
          <p:cNvPr id="45" name="Text 38"/>
          <p:cNvSpPr txBox="1"/>
          <p:nvPr/>
        </p:nvSpPr>
        <p:spPr>
          <a:xfrm>
            <a:off x="9641434" y="5852160"/>
            <a:ext cx="1998878" cy="411480"/>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Power BI dashboard</a:t>
            </a:r>
            <a:endParaRPr lang="en-US" sz="1100" dirty="0"/>
          </a:p>
        </p:txBody>
      </p:sp>
      <p:sp>
        <p:nvSpPr>
          <p:cNvPr id="25" name="Slide Number Placeholder 0"/>
          <p:cNvSpPr>
            <a:spLocks noGrp="1"/>
          </p:cNvSpPr>
          <p:nvPr>
            <p:ph type="sldNum" sz="quarter" idx="4294967295"/>
          </p:nvPr>
        </p:nvSpPr>
        <p:spPr>
          <a:xfrm>
            <a:off x="11155680" y="6419088"/>
            <a:ext cx="48463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73152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Student Performance and Assessment Dashboard</a:t>
            </a:r>
            <a:endParaRPr lang="en-US" sz="3400" dirty="0"/>
          </a:p>
        </p:txBody>
      </p:sp>
      <p:sp>
        <p:nvSpPr>
          <p:cNvPr id="3" name="Text 1"/>
          <p:cNvSpPr txBox="1"/>
          <p:nvPr/>
        </p:nvSpPr>
        <p:spPr>
          <a:xfrm>
            <a:off x="548640" y="914400"/>
            <a:ext cx="11064240" cy="274320"/>
          </a:xfrm>
          <a:prstGeom prst="rect">
            <a:avLst/>
          </a:prstGeom>
          <a:noFill/>
          <a:ln/>
        </p:spPr>
        <p:txBody>
          <a:bodyPr wrap="square" lIns="0" tIns="0" rIns="0" bIns="0" rtlCol="0" anchor="t"/>
          <a:lstStyle/>
          <a:p>
            <a:pPr indent="0" marL="0">
              <a:buNone/>
            </a:pPr>
            <a:r>
              <a:rPr lang="en-US" sz="1400" dirty="0">
                <a:solidFill>
                  <a:srgbClr val="B9C9E4"/>
                </a:solidFill>
                <a:latin typeface="Calibri" pitchFamily="34" charset="0"/>
                <a:ea typeface="Calibri" pitchFamily="34" charset="-122"/>
                <a:cs typeface="Calibri" pitchFamily="34" charset="-120"/>
              </a:rPr>
              <a:t>Objective: enable users to explore assessment data, compare categories, and understand performance patterns interactively.</a:t>
            </a:r>
            <a:endParaRPr lang="en-US" sz="1400" dirty="0"/>
          </a:p>
        </p:txBody>
      </p:sp>
      <p:sp>
        <p:nvSpPr>
          <p:cNvPr id="4" name="Shape 2"/>
          <p:cNvSpPr/>
          <p:nvPr/>
        </p:nvSpPr>
        <p:spPr>
          <a:xfrm>
            <a:off x="548640" y="1325880"/>
            <a:ext cx="8101584" cy="4581177"/>
          </a:xfrm>
          <a:prstGeom prst="roundRect">
            <a:avLst>
              <a:gd name="adj" fmla="val 1996"/>
            </a:avLst>
          </a:prstGeom>
          <a:solidFill>
            <a:srgbClr val="FFFFFF"/>
          </a:solidFill>
          <a:ln w="12700">
            <a:solidFill>
              <a:srgbClr val="FFFFFF"/>
            </a:solidFill>
            <a:prstDash val="solid"/>
          </a:ln>
        </p:spPr>
      </p:sp>
      <p:pic>
        <p:nvPicPr>
          <p:cNvPr id="5" name="Image 0" descr="/home/claude/dash_hd.png">    </p:cNvPr>
          <p:cNvPicPr>
            <a:picLocks noChangeAspect="1"/>
          </p:cNvPicPr>
          <p:nvPr/>
        </p:nvPicPr>
        <p:blipFill>
          <a:blip r:embed="rId1"/>
          <a:stretch>
            <a:fillRect/>
          </a:stretch>
        </p:blipFill>
        <p:spPr>
          <a:xfrm>
            <a:off x="621792" y="1399032"/>
            <a:ext cx="7955280" cy="4434873"/>
          </a:xfrm>
          <a:prstGeom prst="rect">
            <a:avLst/>
          </a:prstGeom>
        </p:spPr>
      </p:pic>
      <p:sp>
        <p:nvSpPr>
          <p:cNvPr id="6" name="Shape 3"/>
          <p:cNvSpPr/>
          <p:nvPr/>
        </p:nvSpPr>
        <p:spPr>
          <a:xfrm>
            <a:off x="8869680" y="1325880"/>
            <a:ext cx="2770632" cy="4389120"/>
          </a:xfrm>
          <a:prstGeom prst="roundRect">
            <a:avLst>
              <a:gd name="adj" fmla="val 3300"/>
            </a:avLst>
          </a:prstGeom>
          <a:solidFill>
            <a:srgbClr val="13305A"/>
          </a:solidFill>
          <a:ln w="9525">
            <a:solidFill>
              <a:srgbClr val="2B4A7A"/>
            </a:solidFill>
            <a:prstDash val="solid"/>
          </a:ln>
        </p:spPr>
      </p:sp>
      <p:sp>
        <p:nvSpPr>
          <p:cNvPr id="7" name="Shape 4"/>
          <p:cNvSpPr/>
          <p:nvPr/>
        </p:nvSpPr>
        <p:spPr>
          <a:xfrm>
            <a:off x="9052560" y="1463040"/>
            <a:ext cx="411480" cy="411480"/>
          </a:xfrm>
          <a:prstGeom prst="ellipse">
            <a:avLst/>
          </a:prstGeom>
          <a:solidFill>
            <a:srgbClr val="14B8A6"/>
          </a:solidFill>
          <a:ln w="12700">
            <a:solidFill>
              <a:srgbClr val="14B8A6"/>
            </a:solidFill>
            <a:prstDash val="solid"/>
          </a:ln>
        </p:spPr>
      </p:sp>
      <p:pic>
        <p:nvPicPr>
          <p:cNvPr id="8" name="Image 1" descr="preencoded.png">    </p:cNvPr>
          <p:cNvPicPr>
            <a:picLocks noChangeAspect="1"/>
          </p:cNvPicPr>
          <p:nvPr/>
        </p:nvPicPr>
        <p:blipFill>
          <a:blip r:embed="rId2"/>
          <a:stretch>
            <a:fillRect/>
          </a:stretch>
        </p:blipFill>
        <p:spPr>
          <a:xfrm>
            <a:off x="9155430" y="1565910"/>
            <a:ext cx="205740" cy="205740"/>
          </a:xfrm>
          <a:prstGeom prst="rect">
            <a:avLst/>
          </a:prstGeom>
        </p:spPr>
      </p:pic>
      <p:sp>
        <p:nvSpPr>
          <p:cNvPr id="9" name="Text 5"/>
          <p:cNvSpPr txBox="1"/>
          <p:nvPr/>
        </p:nvSpPr>
        <p:spPr>
          <a:xfrm>
            <a:off x="9601200" y="1463040"/>
            <a:ext cx="192024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Interactive filters</a:t>
            </a:r>
            <a:endParaRPr lang="en-US" sz="1600" dirty="0"/>
          </a:p>
        </p:txBody>
      </p:sp>
      <p:sp>
        <p:nvSpPr>
          <p:cNvPr id="10" name="Shape 6"/>
          <p:cNvSpPr/>
          <p:nvPr/>
        </p:nvSpPr>
        <p:spPr>
          <a:xfrm>
            <a:off x="9052560" y="2057400"/>
            <a:ext cx="2404872" cy="301752"/>
          </a:xfrm>
          <a:prstGeom prst="roundRect">
            <a:avLst>
              <a:gd name="adj" fmla="val 30303"/>
            </a:avLst>
          </a:prstGeom>
          <a:solidFill>
            <a:srgbClr val="0B1F3A"/>
          </a:solidFill>
          <a:ln w="6350">
            <a:solidFill>
              <a:srgbClr val="2B4A7A"/>
            </a:solidFill>
            <a:prstDash val="solid"/>
          </a:ln>
        </p:spPr>
      </p:sp>
      <p:sp>
        <p:nvSpPr>
          <p:cNvPr id="11" name="Text 7"/>
          <p:cNvSpPr txBox="1"/>
          <p:nvPr/>
        </p:nvSpPr>
        <p:spPr>
          <a:xfrm>
            <a:off x="9189720" y="2057400"/>
            <a:ext cx="2194560" cy="30175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Grade</a:t>
            </a:r>
            <a:endParaRPr lang="en-US" sz="1200" dirty="0"/>
          </a:p>
        </p:txBody>
      </p:sp>
      <p:sp>
        <p:nvSpPr>
          <p:cNvPr id="12" name="Shape 8"/>
          <p:cNvSpPr/>
          <p:nvPr/>
        </p:nvSpPr>
        <p:spPr>
          <a:xfrm>
            <a:off x="9052560" y="2423160"/>
            <a:ext cx="2404872" cy="301752"/>
          </a:xfrm>
          <a:prstGeom prst="roundRect">
            <a:avLst>
              <a:gd name="adj" fmla="val 30303"/>
            </a:avLst>
          </a:prstGeom>
          <a:solidFill>
            <a:srgbClr val="0B1F3A"/>
          </a:solidFill>
          <a:ln w="6350">
            <a:solidFill>
              <a:srgbClr val="2B4A7A"/>
            </a:solidFill>
            <a:prstDash val="solid"/>
          </a:ln>
        </p:spPr>
      </p:sp>
      <p:sp>
        <p:nvSpPr>
          <p:cNvPr id="13" name="Text 9"/>
          <p:cNvSpPr txBox="1"/>
          <p:nvPr/>
        </p:nvSpPr>
        <p:spPr>
          <a:xfrm>
            <a:off x="9189720" y="2423160"/>
            <a:ext cx="2194560" cy="30175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TeacherName</a:t>
            </a:r>
            <a:endParaRPr lang="en-US" sz="1200" dirty="0"/>
          </a:p>
        </p:txBody>
      </p:sp>
      <p:sp>
        <p:nvSpPr>
          <p:cNvPr id="14" name="Shape 10"/>
          <p:cNvSpPr/>
          <p:nvPr/>
        </p:nvSpPr>
        <p:spPr>
          <a:xfrm>
            <a:off x="9052560" y="2788920"/>
            <a:ext cx="2404872" cy="301752"/>
          </a:xfrm>
          <a:prstGeom prst="roundRect">
            <a:avLst>
              <a:gd name="adj" fmla="val 30303"/>
            </a:avLst>
          </a:prstGeom>
          <a:solidFill>
            <a:srgbClr val="0B1F3A"/>
          </a:solidFill>
          <a:ln w="6350">
            <a:solidFill>
              <a:srgbClr val="2B4A7A"/>
            </a:solidFill>
            <a:prstDash val="solid"/>
          </a:ln>
        </p:spPr>
      </p:sp>
      <p:sp>
        <p:nvSpPr>
          <p:cNvPr id="15" name="Text 11"/>
          <p:cNvSpPr txBox="1"/>
          <p:nvPr/>
        </p:nvSpPr>
        <p:spPr>
          <a:xfrm>
            <a:off x="9189720" y="2788920"/>
            <a:ext cx="2194560" cy="30175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Subject</a:t>
            </a:r>
            <a:endParaRPr lang="en-US" sz="1200" dirty="0"/>
          </a:p>
        </p:txBody>
      </p:sp>
      <p:sp>
        <p:nvSpPr>
          <p:cNvPr id="16" name="Shape 12"/>
          <p:cNvSpPr/>
          <p:nvPr/>
        </p:nvSpPr>
        <p:spPr>
          <a:xfrm>
            <a:off x="9052560" y="3154680"/>
            <a:ext cx="2404872" cy="301752"/>
          </a:xfrm>
          <a:prstGeom prst="roundRect">
            <a:avLst>
              <a:gd name="adj" fmla="val 30303"/>
            </a:avLst>
          </a:prstGeom>
          <a:solidFill>
            <a:srgbClr val="0B1F3A"/>
          </a:solidFill>
          <a:ln w="6350">
            <a:solidFill>
              <a:srgbClr val="2B4A7A"/>
            </a:solidFill>
            <a:prstDash val="solid"/>
          </a:ln>
        </p:spPr>
      </p:sp>
      <p:sp>
        <p:nvSpPr>
          <p:cNvPr id="17" name="Text 13"/>
          <p:cNvSpPr txBox="1"/>
          <p:nvPr/>
        </p:nvSpPr>
        <p:spPr>
          <a:xfrm>
            <a:off x="9189720" y="3154680"/>
            <a:ext cx="2194560" cy="30175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AttemptDate</a:t>
            </a:r>
            <a:endParaRPr lang="en-US" sz="1200" dirty="0"/>
          </a:p>
        </p:txBody>
      </p:sp>
      <p:sp>
        <p:nvSpPr>
          <p:cNvPr id="18" name="Shape 14"/>
          <p:cNvSpPr/>
          <p:nvPr/>
        </p:nvSpPr>
        <p:spPr>
          <a:xfrm>
            <a:off x="9052560" y="3520440"/>
            <a:ext cx="2404872" cy="301752"/>
          </a:xfrm>
          <a:prstGeom prst="roundRect">
            <a:avLst>
              <a:gd name="adj" fmla="val 30303"/>
            </a:avLst>
          </a:prstGeom>
          <a:solidFill>
            <a:srgbClr val="0B1F3A"/>
          </a:solidFill>
          <a:ln w="6350">
            <a:solidFill>
              <a:srgbClr val="2B4A7A"/>
            </a:solidFill>
            <a:prstDash val="solid"/>
          </a:ln>
        </p:spPr>
      </p:sp>
      <p:sp>
        <p:nvSpPr>
          <p:cNvPr id="19" name="Text 15"/>
          <p:cNvSpPr txBox="1"/>
          <p:nvPr/>
        </p:nvSpPr>
        <p:spPr>
          <a:xfrm>
            <a:off x="9189720" y="3520440"/>
            <a:ext cx="2194560" cy="30175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AttendanceStatus</a:t>
            </a:r>
            <a:endParaRPr lang="en-US" sz="1200" dirty="0"/>
          </a:p>
        </p:txBody>
      </p:sp>
      <p:sp>
        <p:nvSpPr>
          <p:cNvPr id="20" name="Shape 16"/>
          <p:cNvSpPr/>
          <p:nvPr/>
        </p:nvSpPr>
        <p:spPr>
          <a:xfrm>
            <a:off x="9052560" y="4023360"/>
            <a:ext cx="411480" cy="411480"/>
          </a:xfrm>
          <a:prstGeom prst="ellipse">
            <a:avLst/>
          </a:prstGeom>
          <a:solidFill>
            <a:srgbClr val="1D4ED8"/>
          </a:solidFill>
          <a:ln w="12700">
            <a:solidFill>
              <a:srgbClr val="1D4ED8"/>
            </a:solidFill>
            <a:prstDash val="solid"/>
          </a:ln>
        </p:spPr>
      </p:sp>
      <p:pic>
        <p:nvPicPr>
          <p:cNvPr id="21" name="Image 2" descr="preencoded.png">    </p:cNvPr>
          <p:cNvPicPr>
            <a:picLocks noChangeAspect="1"/>
          </p:cNvPicPr>
          <p:nvPr/>
        </p:nvPicPr>
        <p:blipFill>
          <a:blip r:embed="rId3"/>
          <a:stretch>
            <a:fillRect/>
          </a:stretch>
        </p:blipFill>
        <p:spPr>
          <a:xfrm>
            <a:off x="9155430" y="4126230"/>
            <a:ext cx="205740" cy="205740"/>
          </a:xfrm>
          <a:prstGeom prst="rect">
            <a:avLst/>
          </a:prstGeom>
        </p:spPr>
      </p:pic>
      <p:sp>
        <p:nvSpPr>
          <p:cNvPr id="22" name="Text 17"/>
          <p:cNvSpPr txBox="1"/>
          <p:nvPr/>
        </p:nvSpPr>
        <p:spPr>
          <a:xfrm>
            <a:off x="9601200" y="4023360"/>
            <a:ext cx="192024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Dashboard contents</a:t>
            </a:r>
            <a:endParaRPr lang="en-US" sz="1600" dirty="0"/>
          </a:p>
        </p:txBody>
      </p:sp>
      <p:sp>
        <p:nvSpPr>
          <p:cNvPr id="23" name="Text 18"/>
          <p:cNvSpPr txBox="1"/>
          <p:nvPr/>
        </p:nvSpPr>
        <p:spPr>
          <a:xfrm>
            <a:off x="9052560" y="4617720"/>
            <a:ext cx="2468880" cy="91440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DCE6F5"/>
                </a:solidFill>
                <a:latin typeface="Calibri" pitchFamily="34" charset="0"/>
                <a:ea typeface="Calibri" pitchFamily="34" charset="-122"/>
                <a:cs typeface="Calibri" pitchFamily="34" charset="-120"/>
              </a:rPr>
              <a:t>5 KPI cards</a:t>
            </a:r>
            <a:endParaRPr lang="en-US" sz="1400" dirty="0"/>
          </a:p>
          <a:p>
            <a:pPr marL="342900" indent="-342900">
              <a:spcAft>
                <a:spcPts val="300"/>
              </a:spcAft>
              <a:buSzPct val="100000"/>
              <a:buChar char="•"/>
            </a:pPr>
            <a:r>
              <a:rPr lang="en-US" sz="1400" dirty="0">
                <a:solidFill>
                  <a:srgbClr val="DCE6F5"/>
                </a:solidFill>
                <a:latin typeface="Calibri" pitchFamily="34" charset="0"/>
                <a:ea typeface="Calibri" pitchFamily="34" charset="-122"/>
                <a:cs typeface="Calibri" pitchFamily="34" charset="-120"/>
              </a:rPr>
              <a:t>8 interactive visuals</a:t>
            </a:r>
            <a:endParaRPr lang="en-US" sz="1400" dirty="0"/>
          </a:p>
          <a:p>
            <a:pPr marL="342900" indent="-342900">
              <a:spcAft>
                <a:spcPts val="300"/>
              </a:spcAft>
              <a:buSzPct val="100000"/>
              <a:buChar char="•"/>
            </a:pPr>
            <a:r>
              <a:rPr lang="en-US" sz="1400" dirty="0">
                <a:solidFill>
                  <a:srgbClr val="DCE6F5"/>
                </a:solidFill>
                <a:latin typeface="Calibri" pitchFamily="34" charset="0"/>
                <a:ea typeface="Calibri" pitchFamily="34" charset="-122"/>
                <a:cs typeface="Calibri" pitchFamily="34" charset="-120"/>
              </a:rPr>
              <a:t>5 filter controls</a:t>
            </a:r>
            <a:endParaRPr lang="en-US" sz="1400" dirty="0"/>
          </a:p>
        </p:txBody>
      </p:sp>
      <p:sp>
        <p:nvSpPr>
          <p:cNvPr id="24" name="Shape 19"/>
          <p:cNvSpPr/>
          <p:nvPr/>
        </p:nvSpPr>
        <p:spPr>
          <a:xfrm>
            <a:off x="548640" y="5943600"/>
            <a:ext cx="1998878" cy="365760"/>
          </a:xfrm>
          <a:prstGeom prst="roundRect">
            <a:avLst>
              <a:gd name="adj" fmla="val 25000"/>
            </a:avLst>
          </a:prstGeom>
          <a:solidFill>
            <a:srgbClr val="13305A"/>
          </a:solidFill>
          <a:ln w="9525">
            <a:solidFill>
              <a:srgbClr val="2B4A7A"/>
            </a:solidFill>
            <a:prstDash val="solid"/>
          </a:ln>
        </p:spPr>
      </p:sp>
      <p:sp>
        <p:nvSpPr>
          <p:cNvPr id="25" name="Text 20"/>
          <p:cNvSpPr txBox="1"/>
          <p:nvPr/>
        </p:nvSpPr>
        <p:spPr>
          <a:xfrm>
            <a:off x="548640" y="5943600"/>
            <a:ext cx="1998878"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abhiva_dataset.csv</a:t>
            </a:r>
            <a:endParaRPr lang="en-US" sz="1100" dirty="0"/>
          </a:p>
        </p:txBody>
      </p:sp>
      <p:sp>
        <p:nvSpPr>
          <p:cNvPr id="26" name="Shape 21"/>
          <p:cNvSpPr/>
          <p:nvPr/>
        </p:nvSpPr>
        <p:spPr>
          <a:xfrm>
            <a:off x="2584094" y="6025896"/>
            <a:ext cx="201168" cy="201168"/>
          </a:xfrm>
          <a:prstGeom prst="rightArrow">
            <a:avLst/>
          </a:prstGeom>
          <a:solidFill>
            <a:srgbClr val="94A3B8"/>
          </a:solidFill>
          <a:ln w="12700">
            <a:solidFill>
              <a:srgbClr val="94A3B8"/>
            </a:solidFill>
            <a:prstDash val="solid"/>
          </a:ln>
        </p:spPr>
      </p:sp>
      <p:sp>
        <p:nvSpPr>
          <p:cNvPr id="27" name="Shape 22"/>
          <p:cNvSpPr/>
          <p:nvPr/>
        </p:nvSpPr>
        <p:spPr>
          <a:xfrm>
            <a:off x="2821838" y="5943600"/>
            <a:ext cx="1998878" cy="365760"/>
          </a:xfrm>
          <a:prstGeom prst="roundRect">
            <a:avLst>
              <a:gd name="adj" fmla="val 25000"/>
            </a:avLst>
          </a:prstGeom>
          <a:solidFill>
            <a:srgbClr val="13305A"/>
          </a:solidFill>
          <a:ln w="9525">
            <a:solidFill>
              <a:srgbClr val="2B4A7A"/>
            </a:solidFill>
            <a:prstDash val="solid"/>
          </a:ln>
        </p:spPr>
      </p:sp>
      <p:sp>
        <p:nvSpPr>
          <p:cNvPr id="28" name="Text 23"/>
          <p:cNvSpPr txBox="1"/>
          <p:nvPr/>
        </p:nvSpPr>
        <p:spPr>
          <a:xfrm>
            <a:off x="2821838" y="5943600"/>
            <a:ext cx="1998878"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Python cleaning</a:t>
            </a:r>
            <a:endParaRPr lang="en-US" sz="1100" dirty="0"/>
          </a:p>
        </p:txBody>
      </p:sp>
      <p:sp>
        <p:nvSpPr>
          <p:cNvPr id="29" name="Shape 24"/>
          <p:cNvSpPr/>
          <p:nvPr/>
        </p:nvSpPr>
        <p:spPr>
          <a:xfrm>
            <a:off x="4857293" y="6025896"/>
            <a:ext cx="201168" cy="201168"/>
          </a:xfrm>
          <a:prstGeom prst="rightArrow">
            <a:avLst/>
          </a:prstGeom>
          <a:solidFill>
            <a:srgbClr val="94A3B8"/>
          </a:solidFill>
          <a:ln w="12700">
            <a:solidFill>
              <a:srgbClr val="94A3B8"/>
            </a:solidFill>
            <a:prstDash val="solid"/>
          </a:ln>
        </p:spPr>
      </p:sp>
      <p:sp>
        <p:nvSpPr>
          <p:cNvPr id="30" name="Shape 25"/>
          <p:cNvSpPr/>
          <p:nvPr/>
        </p:nvSpPr>
        <p:spPr>
          <a:xfrm>
            <a:off x="5095037" y="5943600"/>
            <a:ext cx="1998878" cy="365760"/>
          </a:xfrm>
          <a:prstGeom prst="roundRect">
            <a:avLst>
              <a:gd name="adj" fmla="val 25000"/>
            </a:avLst>
          </a:prstGeom>
          <a:solidFill>
            <a:srgbClr val="13305A"/>
          </a:solidFill>
          <a:ln w="9525">
            <a:solidFill>
              <a:srgbClr val="2B4A7A"/>
            </a:solidFill>
            <a:prstDash val="solid"/>
          </a:ln>
        </p:spPr>
      </p:sp>
      <p:sp>
        <p:nvSpPr>
          <p:cNvPr id="31" name="Text 26"/>
          <p:cNvSpPr txBox="1"/>
          <p:nvPr/>
        </p:nvSpPr>
        <p:spPr>
          <a:xfrm>
            <a:off x="5095037" y="5943600"/>
            <a:ext cx="1998878"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cleaned_data.csv</a:t>
            </a:r>
            <a:endParaRPr lang="en-US" sz="1100" dirty="0"/>
          </a:p>
        </p:txBody>
      </p:sp>
      <p:sp>
        <p:nvSpPr>
          <p:cNvPr id="32" name="Shape 27"/>
          <p:cNvSpPr/>
          <p:nvPr/>
        </p:nvSpPr>
        <p:spPr>
          <a:xfrm>
            <a:off x="7130491" y="6025896"/>
            <a:ext cx="201168" cy="201168"/>
          </a:xfrm>
          <a:prstGeom prst="rightArrow">
            <a:avLst/>
          </a:prstGeom>
          <a:solidFill>
            <a:srgbClr val="94A3B8"/>
          </a:solidFill>
          <a:ln w="12700">
            <a:solidFill>
              <a:srgbClr val="94A3B8"/>
            </a:solidFill>
            <a:prstDash val="solid"/>
          </a:ln>
        </p:spPr>
      </p:sp>
      <p:sp>
        <p:nvSpPr>
          <p:cNvPr id="33" name="Shape 28"/>
          <p:cNvSpPr/>
          <p:nvPr/>
        </p:nvSpPr>
        <p:spPr>
          <a:xfrm>
            <a:off x="7368235" y="5943600"/>
            <a:ext cx="1998878" cy="365760"/>
          </a:xfrm>
          <a:prstGeom prst="roundRect">
            <a:avLst>
              <a:gd name="adj" fmla="val 25000"/>
            </a:avLst>
          </a:prstGeom>
          <a:solidFill>
            <a:srgbClr val="13305A"/>
          </a:solidFill>
          <a:ln w="9525">
            <a:solidFill>
              <a:srgbClr val="2B4A7A"/>
            </a:solidFill>
            <a:prstDash val="solid"/>
          </a:ln>
        </p:spPr>
      </p:sp>
      <p:sp>
        <p:nvSpPr>
          <p:cNvPr id="34" name="Text 29"/>
          <p:cNvSpPr txBox="1"/>
          <p:nvPr/>
        </p:nvSpPr>
        <p:spPr>
          <a:xfrm>
            <a:off x="7368235" y="5943600"/>
            <a:ext cx="1998878"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MySQL analysis</a:t>
            </a:r>
            <a:endParaRPr lang="en-US" sz="1100" dirty="0"/>
          </a:p>
        </p:txBody>
      </p:sp>
      <p:sp>
        <p:nvSpPr>
          <p:cNvPr id="35" name="Shape 30"/>
          <p:cNvSpPr/>
          <p:nvPr/>
        </p:nvSpPr>
        <p:spPr>
          <a:xfrm>
            <a:off x="9403690" y="6025896"/>
            <a:ext cx="201168" cy="201168"/>
          </a:xfrm>
          <a:prstGeom prst="rightArrow">
            <a:avLst/>
          </a:prstGeom>
          <a:solidFill>
            <a:srgbClr val="94A3B8"/>
          </a:solidFill>
          <a:ln w="12700">
            <a:solidFill>
              <a:srgbClr val="94A3B8"/>
            </a:solidFill>
            <a:prstDash val="solid"/>
          </a:ln>
        </p:spPr>
      </p:sp>
      <p:sp>
        <p:nvSpPr>
          <p:cNvPr id="36" name="Shape 31"/>
          <p:cNvSpPr/>
          <p:nvPr/>
        </p:nvSpPr>
        <p:spPr>
          <a:xfrm>
            <a:off x="9641434" y="5943600"/>
            <a:ext cx="1998878" cy="365760"/>
          </a:xfrm>
          <a:prstGeom prst="roundRect">
            <a:avLst>
              <a:gd name="adj" fmla="val 25000"/>
            </a:avLst>
          </a:prstGeom>
          <a:solidFill>
            <a:srgbClr val="14B8A6"/>
          </a:solidFill>
          <a:ln w="9525">
            <a:solidFill>
              <a:srgbClr val="14B8A6"/>
            </a:solidFill>
            <a:prstDash val="solid"/>
          </a:ln>
        </p:spPr>
      </p:sp>
      <p:sp>
        <p:nvSpPr>
          <p:cNvPr id="37" name="Text 32"/>
          <p:cNvSpPr txBox="1"/>
          <p:nvPr/>
        </p:nvSpPr>
        <p:spPr>
          <a:xfrm>
            <a:off x="9641434" y="5943600"/>
            <a:ext cx="1998878" cy="365760"/>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Power BI dashboard</a:t>
            </a:r>
            <a:endParaRPr lang="en-US" sz="1100" dirty="0"/>
          </a:p>
        </p:txBody>
      </p:sp>
      <p:sp>
        <p:nvSpPr>
          <p:cNvPr id="25" name="Slide Number Placeholder 0"/>
          <p:cNvSpPr>
            <a:spLocks noGrp="1"/>
          </p:cNvSpPr>
          <p:nvPr>
            <p:ph type="sldNum" sz="quarter" idx="4294967295"/>
          </p:nvPr>
        </p:nvSpPr>
        <p:spPr>
          <a:xfrm>
            <a:off x="11155680" y="6419088"/>
            <a:ext cx="48463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4A3B8"/>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731520"/>
          </a:xfrm>
          <a:prstGeom prst="rect">
            <a:avLst/>
          </a:prstGeom>
          <a:noFill/>
          <a:ln/>
        </p:spPr>
        <p:txBody>
          <a:bodyPr wrap="square" lIns="0" tIns="0" rIns="0" bIns="0" rtlCol="0" anchor="ctr"/>
          <a:lstStyle/>
          <a:p>
            <a:pPr indent="0" marL="0">
              <a:buNone/>
            </a:pPr>
            <a:r>
              <a:rPr lang="en-US" sz="3400" b="1" dirty="0">
                <a:solidFill>
                  <a:srgbClr val="0B1F3A"/>
                </a:solidFill>
                <a:latin typeface="Calibri" pitchFamily="34" charset="0"/>
                <a:ea typeface="Calibri" pitchFamily="34" charset="-122"/>
                <a:cs typeface="Calibri" pitchFamily="34" charset="-120"/>
              </a:rPr>
              <a:t>Challenges, Outcomes and Conclusion</a:t>
            </a:r>
            <a:endParaRPr lang="en-US" sz="3400" dirty="0"/>
          </a:p>
        </p:txBody>
      </p:sp>
      <p:sp>
        <p:nvSpPr>
          <p:cNvPr id="3" name="Text 1"/>
          <p:cNvSpPr txBox="1"/>
          <p:nvPr/>
        </p:nvSpPr>
        <p:spPr>
          <a:xfrm>
            <a:off x="548640" y="1188720"/>
            <a:ext cx="4572000" cy="228600"/>
          </a:xfrm>
          <a:prstGeom prst="rect">
            <a:avLst/>
          </a:prstGeom>
          <a:noFill/>
          <a:ln/>
        </p:spPr>
        <p:txBody>
          <a:bodyPr wrap="square" lIns="0" tIns="0" rIns="0" bIns="0" rtlCol="0" anchor="t"/>
          <a:lstStyle/>
          <a:p>
            <a:pPr indent="0" marL="0">
              <a:buNone/>
            </a:pPr>
            <a:r>
              <a:rPr lang="en-US" sz="1200" b="1" dirty="0">
                <a:solidFill>
                  <a:srgbClr val="64748B"/>
                </a:solidFill>
                <a:latin typeface="Calibri" pitchFamily="34" charset="0"/>
                <a:ea typeface="Calibri" pitchFamily="34" charset="-122"/>
                <a:cs typeface="Calibri" pitchFamily="34" charset="-120"/>
              </a:rPr>
              <a:t>PROJECT DELIVERABLES</a:t>
            </a:r>
            <a:endParaRPr lang="en-US" sz="1200" dirty="0"/>
          </a:p>
        </p:txBody>
      </p:sp>
      <p:sp>
        <p:nvSpPr>
          <p:cNvPr id="4" name="Shape 2"/>
          <p:cNvSpPr/>
          <p:nvPr/>
        </p:nvSpPr>
        <p:spPr>
          <a:xfrm>
            <a:off x="548640" y="1463040"/>
            <a:ext cx="3108960" cy="1143000"/>
          </a:xfrm>
          <a:prstGeom prst="roundRect">
            <a:avLst>
              <a:gd name="adj" fmla="val 8000"/>
            </a:avLst>
          </a:prstGeom>
          <a:solidFill>
            <a:srgbClr val="FFFFFF"/>
          </a:solidFill>
          <a:ln w="12700">
            <a:solidFill>
              <a:srgbClr val="FFFFFF"/>
            </a:solidFill>
            <a:prstDash val="solid"/>
          </a:ln>
          <a:effectLst>
            <a:outerShdw sx="100000" sy="100000" kx="0" ky="0" algn="bl" rotWithShape="0" blurRad="76200" dist="25400" dir="5400000">
              <a:srgbClr val="0F172A">
                <a:alpha val="12000"/>
              </a:srgbClr>
            </a:outerShdw>
          </a:effectLst>
        </p:spPr>
      </p:sp>
      <p:sp>
        <p:nvSpPr>
          <p:cNvPr id="5" name="Shape 3"/>
          <p:cNvSpPr/>
          <p:nvPr/>
        </p:nvSpPr>
        <p:spPr>
          <a:xfrm>
            <a:off x="731520" y="1737360"/>
            <a:ext cx="594360" cy="594360"/>
          </a:xfrm>
          <a:prstGeom prst="ellipse">
            <a:avLst/>
          </a:prstGeom>
          <a:solidFill>
            <a:srgbClr val="14B8A6"/>
          </a:solidFill>
          <a:ln w="12700">
            <a:solidFill>
              <a:srgbClr val="14B8A6"/>
            </a:solidFill>
            <a:prstDash val="solid"/>
          </a:ln>
        </p:spPr>
      </p:sp>
      <p:pic>
        <p:nvPicPr>
          <p:cNvPr id="6" name="Image 0" descr="preencoded.png">    </p:cNvPr>
          <p:cNvPicPr>
            <a:picLocks noChangeAspect="1"/>
          </p:cNvPicPr>
          <p:nvPr/>
        </p:nvPicPr>
        <p:blipFill>
          <a:blip r:embed="rId1"/>
          <a:stretch>
            <a:fillRect/>
          </a:stretch>
        </p:blipFill>
        <p:spPr>
          <a:xfrm>
            <a:off x="880110" y="1885950"/>
            <a:ext cx="297180" cy="297180"/>
          </a:xfrm>
          <a:prstGeom prst="rect">
            <a:avLst/>
          </a:prstGeom>
        </p:spPr>
      </p:pic>
      <p:sp>
        <p:nvSpPr>
          <p:cNvPr id="7" name="Text 4"/>
          <p:cNvSpPr txBox="1"/>
          <p:nvPr/>
        </p:nvSpPr>
        <p:spPr>
          <a:xfrm>
            <a:off x="1508760" y="1719072"/>
            <a:ext cx="2057400" cy="320040"/>
          </a:xfrm>
          <a:prstGeom prst="rect">
            <a:avLst/>
          </a:prstGeom>
          <a:noFill/>
          <a:ln/>
        </p:spPr>
        <p:txBody>
          <a:bodyPr wrap="square" lIns="0" tIns="0" rIns="0" bIns="0" rtlCol="0" anchor="t"/>
          <a:lstStyle/>
          <a:p>
            <a:pPr indent="0" marL="0">
              <a:buNone/>
            </a:pPr>
            <a:r>
              <a:rPr lang="en-US" sz="1500" b="1" dirty="0">
                <a:solidFill>
                  <a:srgbClr val="0B1F3A"/>
                </a:solidFill>
                <a:latin typeface="Calibri" pitchFamily="34" charset="0"/>
                <a:ea typeface="Calibri" pitchFamily="34" charset="-122"/>
                <a:cs typeface="Calibri" pitchFamily="34" charset="-120"/>
              </a:rPr>
              <a:t>Cleaned dataset</a:t>
            </a:r>
            <a:endParaRPr lang="en-US" sz="1500" dirty="0"/>
          </a:p>
        </p:txBody>
      </p:sp>
      <p:sp>
        <p:nvSpPr>
          <p:cNvPr id="8" name="Text 5"/>
          <p:cNvSpPr txBox="1"/>
          <p:nvPr/>
        </p:nvSpPr>
        <p:spPr>
          <a:xfrm>
            <a:off x="1508760" y="2057400"/>
            <a:ext cx="2057400" cy="45720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cleaned_data.csv</a:t>
            </a:r>
            <a:endParaRPr lang="en-US" sz="1200" dirty="0"/>
          </a:p>
        </p:txBody>
      </p:sp>
      <p:sp>
        <p:nvSpPr>
          <p:cNvPr id="9" name="Shape 6"/>
          <p:cNvSpPr/>
          <p:nvPr/>
        </p:nvSpPr>
        <p:spPr>
          <a:xfrm>
            <a:off x="3794760" y="1463040"/>
            <a:ext cx="3108960" cy="1143000"/>
          </a:xfrm>
          <a:prstGeom prst="roundRect">
            <a:avLst>
              <a:gd name="adj" fmla="val 8000"/>
            </a:avLst>
          </a:prstGeom>
          <a:solidFill>
            <a:srgbClr val="FFFFFF"/>
          </a:solidFill>
          <a:ln w="12700">
            <a:solidFill>
              <a:srgbClr val="FFFFFF"/>
            </a:solidFill>
            <a:prstDash val="solid"/>
          </a:ln>
          <a:effectLst>
            <a:outerShdw sx="100000" sy="100000" kx="0" ky="0" algn="bl" rotWithShape="0" blurRad="76200" dist="25400" dir="5400000">
              <a:srgbClr val="0F172A">
                <a:alpha val="12000"/>
              </a:srgbClr>
            </a:outerShdw>
          </a:effectLst>
        </p:spPr>
      </p:sp>
      <p:sp>
        <p:nvSpPr>
          <p:cNvPr id="10" name="Shape 7"/>
          <p:cNvSpPr/>
          <p:nvPr/>
        </p:nvSpPr>
        <p:spPr>
          <a:xfrm>
            <a:off x="3977640" y="1737360"/>
            <a:ext cx="594360" cy="594360"/>
          </a:xfrm>
          <a:prstGeom prst="ellipse">
            <a:avLst/>
          </a:prstGeom>
          <a:solidFill>
            <a:srgbClr val="1D4ED8"/>
          </a:solidFill>
          <a:ln w="12700">
            <a:solidFill>
              <a:srgbClr val="1D4ED8"/>
            </a:solidFill>
            <a:prstDash val="solid"/>
          </a:ln>
        </p:spPr>
      </p:sp>
      <p:pic>
        <p:nvPicPr>
          <p:cNvPr id="11" name="Image 1" descr="preencoded.png">    </p:cNvPr>
          <p:cNvPicPr>
            <a:picLocks noChangeAspect="1"/>
          </p:cNvPicPr>
          <p:nvPr/>
        </p:nvPicPr>
        <p:blipFill>
          <a:blip r:embed="rId2"/>
          <a:stretch>
            <a:fillRect/>
          </a:stretch>
        </p:blipFill>
        <p:spPr>
          <a:xfrm>
            <a:off x="4126230" y="1885950"/>
            <a:ext cx="297180" cy="297180"/>
          </a:xfrm>
          <a:prstGeom prst="rect">
            <a:avLst/>
          </a:prstGeom>
        </p:spPr>
      </p:pic>
      <p:sp>
        <p:nvSpPr>
          <p:cNvPr id="12" name="Text 8"/>
          <p:cNvSpPr txBox="1"/>
          <p:nvPr/>
        </p:nvSpPr>
        <p:spPr>
          <a:xfrm>
            <a:off x="4754880" y="1719072"/>
            <a:ext cx="2057400" cy="320040"/>
          </a:xfrm>
          <a:prstGeom prst="rect">
            <a:avLst/>
          </a:prstGeom>
          <a:noFill/>
          <a:ln/>
        </p:spPr>
        <p:txBody>
          <a:bodyPr wrap="square" lIns="0" tIns="0" rIns="0" bIns="0" rtlCol="0" anchor="t"/>
          <a:lstStyle/>
          <a:p>
            <a:pPr indent="0" marL="0">
              <a:buNone/>
            </a:pPr>
            <a:r>
              <a:rPr lang="en-US" sz="1500" b="1" dirty="0">
                <a:solidFill>
                  <a:srgbClr val="0B1F3A"/>
                </a:solidFill>
                <a:latin typeface="Calibri" pitchFamily="34" charset="0"/>
                <a:ea typeface="Calibri" pitchFamily="34" charset="-122"/>
                <a:cs typeface="Calibri" pitchFamily="34" charset="-120"/>
              </a:rPr>
              <a:t>Python notebook</a:t>
            </a:r>
            <a:endParaRPr lang="en-US" sz="1500" dirty="0"/>
          </a:p>
        </p:txBody>
      </p:sp>
      <p:sp>
        <p:nvSpPr>
          <p:cNvPr id="13" name="Text 9"/>
          <p:cNvSpPr txBox="1"/>
          <p:nvPr/>
        </p:nvSpPr>
        <p:spPr>
          <a:xfrm>
            <a:off x="4754880" y="2057400"/>
            <a:ext cx="2057400" cy="45720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Exploration, cleaning, visualization</a:t>
            </a:r>
            <a:endParaRPr lang="en-US" sz="1200" dirty="0"/>
          </a:p>
        </p:txBody>
      </p:sp>
      <p:sp>
        <p:nvSpPr>
          <p:cNvPr id="14" name="Shape 10"/>
          <p:cNvSpPr/>
          <p:nvPr/>
        </p:nvSpPr>
        <p:spPr>
          <a:xfrm>
            <a:off x="548640" y="2743200"/>
            <a:ext cx="3108960" cy="1143000"/>
          </a:xfrm>
          <a:prstGeom prst="roundRect">
            <a:avLst>
              <a:gd name="adj" fmla="val 8000"/>
            </a:avLst>
          </a:prstGeom>
          <a:solidFill>
            <a:srgbClr val="FFFFFF"/>
          </a:solidFill>
          <a:ln w="12700">
            <a:solidFill>
              <a:srgbClr val="FFFFFF"/>
            </a:solidFill>
            <a:prstDash val="solid"/>
          </a:ln>
          <a:effectLst>
            <a:outerShdw sx="100000" sy="100000" kx="0" ky="0" algn="bl" rotWithShape="0" blurRad="76200" dist="25400" dir="5400000">
              <a:srgbClr val="0F172A">
                <a:alpha val="12000"/>
              </a:srgbClr>
            </a:outerShdw>
          </a:effectLst>
        </p:spPr>
      </p:sp>
      <p:sp>
        <p:nvSpPr>
          <p:cNvPr id="15" name="Shape 11"/>
          <p:cNvSpPr/>
          <p:nvPr/>
        </p:nvSpPr>
        <p:spPr>
          <a:xfrm>
            <a:off x="731520" y="3017520"/>
            <a:ext cx="594360" cy="594360"/>
          </a:xfrm>
          <a:prstGeom prst="ellipse">
            <a:avLst/>
          </a:prstGeom>
          <a:solidFill>
            <a:srgbClr val="14B8A6"/>
          </a:solidFill>
          <a:ln w="12700">
            <a:solidFill>
              <a:srgbClr val="14B8A6"/>
            </a:solidFill>
            <a:prstDash val="solid"/>
          </a:ln>
        </p:spPr>
      </p:sp>
      <p:pic>
        <p:nvPicPr>
          <p:cNvPr id="16" name="Image 2" descr="preencoded.png">    </p:cNvPr>
          <p:cNvPicPr>
            <a:picLocks noChangeAspect="1"/>
          </p:cNvPicPr>
          <p:nvPr/>
        </p:nvPicPr>
        <p:blipFill>
          <a:blip r:embed="rId3"/>
          <a:stretch>
            <a:fillRect/>
          </a:stretch>
        </p:blipFill>
        <p:spPr>
          <a:xfrm>
            <a:off x="880110" y="3166110"/>
            <a:ext cx="297180" cy="297180"/>
          </a:xfrm>
          <a:prstGeom prst="rect">
            <a:avLst/>
          </a:prstGeom>
        </p:spPr>
      </p:pic>
      <p:sp>
        <p:nvSpPr>
          <p:cNvPr id="17" name="Text 12"/>
          <p:cNvSpPr txBox="1"/>
          <p:nvPr/>
        </p:nvSpPr>
        <p:spPr>
          <a:xfrm>
            <a:off x="1508760" y="2999232"/>
            <a:ext cx="2057400" cy="320040"/>
          </a:xfrm>
          <a:prstGeom prst="rect">
            <a:avLst/>
          </a:prstGeom>
          <a:noFill/>
          <a:ln/>
        </p:spPr>
        <p:txBody>
          <a:bodyPr wrap="square" lIns="0" tIns="0" rIns="0" bIns="0" rtlCol="0" anchor="t"/>
          <a:lstStyle/>
          <a:p>
            <a:pPr indent="0" marL="0">
              <a:buNone/>
            </a:pPr>
            <a:r>
              <a:rPr lang="en-US" sz="1500" b="1" dirty="0">
                <a:solidFill>
                  <a:srgbClr val="0B1F3A"/>
                </a:solidFill>
                <a:latin typeface="Calibri" pitchFamily="34" charset="0"/>
                <a:ea typeface="Calibri" pitchFamily="34" charset="-122"/>
                <a:cs typeface="Calibri" pitchFamily="34" charset="-120"/>
              </a:rPr>
              <a:t>SQL queries</a:t>
            </a:r>
            <a:endParaRPr lang="en-US" sz="1500" dirty="0"/>
          </a:p>
        </p:txBody>
      </p:sp>
      <p:sp>
        <p:nvSpPr>
          <p:cNvPr id="18" name="Text 13"/>
          <p:cNvSpPr txBox="1"/>
          <p:nvPr/>
        </p:nvSpPr>
        <p:spPr>
          <a:xfrm>
            <a:off x="1508760" y="3337560"/>
            <a:ext cx="2057400" cy="45720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Data retrieval and analysis</a:t>
            </a:r>
            <a:endParaRPr lang="en-US" sz="1200" dirty="0"/>
          </a:p>
        </p:txBody>
      </p:sp>
      <p:sp>
        <p:nvSpPr>
          <p:cNvPr id="19" name="Shape 14"/>
          <p:cNvSpPr/>
          <p:nvPr/>
        </p:nvSpPr>
        <p:spPr>
          <a:xfrm>
            <a:off x="3794760" y="2743200"/>
            <a:ext cx="3108960" cy="1143000"/>
          </a:xfrm>
          <a:prstGeom prst="roundRect">
            <a:avLst>
              <a:gd name="adj" fmla="val 8000"/>
            </a:avLst>
          </a:prstGeom>
          <a:solidFill>
            <a:srgbClr val="FFFFFF"/>
          </a:solidFill>
          <a:ln w="12700">
            <a:solidFill>
              <a:srgbClr val="FFFFFF"/>
            </a:solidFill>
            <a:prstDash val="solid"/>
          </a:ln>
          <a:effectLst>
            <a:outerShdw sx="100000" sy="100000" kx="0" ky="0" algn="bl" rotWithShape="0" blurRad="76200" dist="25400" dir="5400000">
              <a:srgbClr val="0F172A">
                <a:alpha val="12000"/>
              </a:srgbClr>
            </a:outerShdw>
          </a:effectLst>
        </p:spPr>
      </p:sp>
      <p:sp>
        <p:nvSpPr>
          <p:cNvPr id="20" name="Shape 15"/>
          <p:cNvSpPr/>
          <p:nvPr/>
        </p:nvSpPr>
        <p:spPr>
          <a:xfrm>
            <a:off x="3977640" y="3017520"/>
            <a:ext cx="594360" cy="594360"/>
          </a:xfrm>
          <a:prstGeom prst="ellipse">
            <a:avLst/>
          </a:prstGeom>
          <a:solidFill>
            <a:srgbClr val="1D4ED8"/>
          </a:solidFill>
          <a:ln w="12700">
            <a:solidFill>
              <a:srgbClr val="1D4ED8"/>
            </a:solidFill>
            <a:prstDash val="solid"/>
          </a:ln>
        </p:spPr>
      </p:sp>
      <p:pic>
        <p:nvPicPr>
          <p:cNvPr id="21" name="Image 3" descr="preencoded.png">    </p:cNvPr>
          <p:cNvPicPr>
            <a:picLocks noChangeAspect="1"/>
          </p:cNvPicPr>
          <p:nvPr/>
        </p:nvPicPr>
        <p:blipFill>
          <a:blip r:embed="rId4"/>
          <a:stretch>
            <a:fillRect/>
          </a:stretch>
        </p:blipFill>
        <p:spPr>
          <a:xfrm>
            <a:off x="4126230" y="3166110"/>
            <a:ext cx="297180" cy="297180"/>
          </a:xfrm>
          <a:prstGeom prst="rect">
            <a:avLst/>
          </a:prstGeom>
        </p:spPr>
      </p:pic>
      <p:sp>
        <p:nvSpPr>
          <p:cNvPr id="22" name="Text 16"/>
          <p:cNvSpPr txBox="1"/>
          <p:nvPr/>
        </p:nvSpPr>
        <p:spPr>
          <a:xfrm>
            <a:off x="4754880" y="2999232"/>
            <a:ext cx="2057400" cy="320040"/>
          </a:xfrm>
          <a:prstGeom prst="rect">
            <a:avLst/>
          </a:prstGeom>
          <a:noFill/>
          <a:ln/>
        </p:spPr>
        <p:txBody>
          <a:bodyPr wrap="square" lIns="0" tIns="0" rIns="0" bIns="0" rtlCol="0" anchor="t"/>
          <a:lstStyle/>
          <a:p>
            <a:pPr indent="0" marL="0">
              <a:buNone/>
            </a:pPr>
            <a:r>
              <a:rPr lang="en-US" sz="1500" b="1" dirty="0">
                <a:solidFill>
                  <a:srgbClr val="0B1F3A"/>
                </a:solidFill>
                <a:latin typeface="Calibri" pitchFamily="34" charset="0"/>
                <a:ea typeface="Calibri" pitchFamily="34" charset="-122"/>
                <a:cs typeface="Calibri" pitchFamily="34" charset="-120"/>
              </a:rPr>
              <a:t>Power BI dashboard</a:t>
            </a:r>
            <a:endParaRPr lang="en-US" sz="1500" dirty="0"/>
          </a:p>
        </p:txBody>
      </p:sp>
      <p:sp>
        <p:nvSpPr>
          <p:cNvPr id="23" name="Text 17"/>
          <p:cNvSpPr txBox="1"/>
          <p:nvPr/>
        </p:nvSpPr>
        <p:spPr>
          <a:xfrm>
            <a:off x="4754880" y="3337560"/>
            <a:ext cx="2057400" cy="45720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Interactive analysis</a:t>
            </a:r>
            <a:endParaRPr lang="en-US" sz="1200" dirty="0"/>
          </a:p>
        </p:txBody>
      </p:sp>
      <p:sp>
        <p:nvSpPr>
          <p:cNvPr id="24" name="Shape 18"/>
          <p:cNvSpPr/>
          <p:nvPr/>
        </p:nvSpPr>
        <p:spPr>
          <a:xfrm>
            <a:off x="7223760" y="1188720"/>
            <a:ext cx="4416552" cy="2514600"/>
          </a:xfrm>
          <a:prstGeom prst="roundRect">
            <a:avLst>
              <a:gd name="adj" fmla="val 3636"/>
            </a:avLst>
          </a:prstGeom>
          <a:solidFill>
            <a:srgbClr val="0B1F3A"/>
          </a:solidFill>
          <a:ln w="12700">
            <a:solidFill>
              <a:srgbClr val="0B1F3A"/>
            </a:solidFill>
            <a:prstDash val="solid"/>
          </a:ln>
          <a:effectLst>
            <a:outerShdw sx="100000" sy="100000" kx="0" ky="0" algn="bl" rotWithShape="0" blurRad="76200" dist="25400" dir="5400000">
              <a:srgbClr val="0F172A">
                <a:alpha val="12000"/>
              </a:srgbClr>
            </a:outerShdw>
          </a:effectLst>
        </p:spPr>
      </p:sp>
      <p:sp>
        <p:nvSpPr>
          <p:cNvPr id="25" name="Shape 19"/>
          <p:cNvSpPr/>
          <p:nvPr/>
        </p:nvSpPr>
        <p:spPr>
          <a:xfrm>
            <a:off x="7452360" y="1371600"/>
            <a:ext cx="457200" cy="457200"/>
          </a:xfrm>
          <a:prstGeom prst="ellipse">
            <a:avLst/>
          </a:prstGeom>
          <a:solidFill>
            <a:srgbClr val="14B8A6"/>
          </a:solidFill>
          <a:ln w="12700">
            <a:solidFill>
              <a:srgbClr val="14B8A6"/>
            </a:solidFill>
            <a:prstDash val="solid"/>
          </a:ln>
        </p:spPr>
      </p:sp>
      <p:pic>
        <p:nvPicPr>
          <p:cNvPr id="26" name="Image 4" descr="preencoded.png">    </p:cNvPr>
          <p:cNvPicPr>
            <a:picLocks noChangeAspect="1"/>
          </p:cNvPicPr>
          <p:nvPr/>
        </p:nvPicPr>
        <p:blipFill>
          <a:blip r:embed="rId5"/>
          <a:stretch>
            <a:fillRect/>
          </a:stretch>
        </p:blipFill>
        <p:spPr>
          <a:xfrm>
            <a:off x="7566660" y="1485900"/>
            <a:ext cx="228600" cy="228600"/>
          </a:xfrm>
          <a:prstGeom prst="rect">
            <a:avLst/>
          </a:prstGeom>
        </p:spPr>
      </p:pic>
      <p:sp>
        <p:nvSpPr>
          <p:cNvPr id="27" name="Text 20"/>
          <p:cNvSpPr txBox="1"/>
          <p:nvPr/>
        </p:nvSpPr>
        <p:spPr>
          <a:xfrm>
            <a:off x="8046720" y="1371600"/>
            <a:ext cx="3474720" cy="4572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Challenges addressed</a:t>
            </a:r>
            <a:endParaRPr lang="en-US" sz="1800" dirty="0"/>
          </a:p>
        </p:txBody>
      </p:sp>
      <p:sp>
        <p:nvSpPr>
          <p:cNvPr id="28" name="Text 21"/>
          <p:cNvSpPr txBox="1"/>
          <p:nvPr/>
        </p:nvSpPr>
        <p:spPr>
          <a:xfrm>
            <a:off x="7452360" y="1965960"/>
            <a:ext cx="3977640" cy="16916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FFFFFF"/>
                </a:solidFill>
                <a:latin typeface="Calibri" pitchFamily="34" charset="0"/>
                <a:ea typeface="Calibri" pitchFamily="34" charset="-122"/>
                <a:cs typeface="Calibri" pitchFamily="34" charset="-120"/>
              </a:rPr>
              <a:t>Identifying and handling missing data</a:t>
            </a:r>
            <a:endParaRPr lang="en-US" sz="1400" dirty="0"/>
          </a:p>
          <a:p>
            <a:pPr marL="342900" indent="-342900">
              <a:spcAft>
                <a:spcPts val="400"/>
              </a:spcAft>
              <a:buSzPct val="100000"/>
              <a:buChar char="•"/>
            </a:pPr>
            <a:r>
              <a:rPr lang="en-US" sz="1400" dirty="0">
                <a:solidFill>
                  <a:srgbClr val="FFFFFF"/>
                </a:solidFill>
                <a:latin typeface="Calibri" pitchFamily="34" charset="0"/>
                <a:ea typeface="Calibri" pitchFamily="34" charset="-122"/>
                <a:cs typeface="Calibri" pitchFamily="34" charset="-120"/>
              </a:rPr>
              <a:t>Maintaining appropriate data types</a:t>
            </a:r>
            <a:endParaRPr lang="en-US" sz="1400" dirty="0"/>
          </a:p>
          <a:p>
            <a:pPr marL="342900" indent="-342900">
              <a:spcAft>
                <a:spcPts val="400"/>
              </a:spcAft>
              <a:buSzPct val="100000"/>
              <a:buChar char="•"/>
            </a:pPr>
            <a:r>
              <a:rPr lang="en-US" sz="1400" dirty="0">
                <a:solidFill>
                  <a:srgbClr val="FFFFFF"/>
                </a:solidFill>
                <a:latin typeface="Calibri" pitchFamily="34" charset="0"/>
                <a:ea typeface="Calibri" pitchFamily="34" charset="-122"/>
                <a:cs typeface="Calibri" pitchFamily="34" charset="-120"/>
              </a:rPr>
              <a:t>Importing the cleaned CSV into MySQL Workbench</a:t>
            </a:r>
            <a:endParaRPr lang="en-US" sz="1400" dirty="0"/>
          </a:p>
          <a:p>
            <a:pPr marL="342900" indent="-342900">
              <a:spcAft>
                <a:spcPts val="400"/>
              </a:spcAft>
              <a:buSzPct val="100000"/>
              <a:buChar char="•"/>
            </a:pPr>
            <a:r>
              <a:rPr lang="en-US" sz="1400" dirty="0">
                <a:solidFill>
                  <a:srgbClr val="FFFFFF"/>
                </a:solidFill>
                <a:latin typeface="Calibri" pitchFamily="34" charset="0"/>
                <a:ea typeface="Calibri" pitchFamily="34" charset="-122"/>
                <a:cs typeface="Calibri" pitchFamily="34" charset="-120"/>
              </a:rPr>
              <a:t>Configuring Power BI visualizations and KPI cards</a:t>
            </a:r>
            <a:endParaRPr lang="en-US" sz="1400" dirty="0"/>
          </a:p>
        </p:txBody>
      </p:sp>
      <p:sp>
        <p:nvSpPr>
          <p:cNvPr id="29" name="Shape 22"/>
          <p:cNvSpPr/>
          <p:nvPr/>
        </p:nvSpPr>
        <p:spPr>
          <a:xfrm>
            <a:off x="548640" y="3840480"/>
            <a:ext cx="11091672" cy="868680"/>
          </a:xfrm>
          <a:prstGeom prst="roundRect">
            <a:avLst>
              <a:gd name="adj" fmla="val 10526"/>
            </a:avLst>
          </a:prstGeom>
          <a:solidFill>
            <a:srgbClr val="FFFFFF"/>
          </a:solidFill>
          <a:ln w="12700">
            <a:solidFill>
              <a:srgbClr val="FFFFFF"/>
            </a:solidFill>
            <a:prstDash val="solid"/>
          </a:ln>
          <a:effectLst>
            <a:outerShdw sx="100000" sy="100000" kx="0" ky="0" algn="bl" rotWithShape="0" blurRad="76200" dist="25400" dir="5400000">
              <a:srgbClr val="0F172A">
                <a:alpha val="12000"/>
              </a:srgbClr>
            </a:outerShdw>
          </a:effectLst>
        </p:spPr>
      </p:sp>
      <p:sp>
        <p:nvSpPr>
          <p:cNvPr id="30" name="Text 23"/>
          <p:cNvSpPr txBox="1"/>
          <p:nvPr/>
        </p:nvSpPr>
        <p:spPr>
          <a:xfrm>
            <a:off x="731520" y="3904488"/>
            <a:ext cx="2743200" cy="228600"/>
          </a:xfrm>
          <a:prstGeom prst="rect">
            <a:avLst/>
          </a:prstGeom>
          <a:noFill/>
          <a:ln/>
        </p:spPr>
        <p:txBody>
          <a:bodyPr wrap="square" lIns="0" tIns="0" rIns="0" bIns="0" rtlCol="0" anchor="t"/>
          <a:lstStyle/>
          <a:p>
            <a:pPr indent="0" marL="0">
              <a:buNone/>
            </a:pPr>
            <a:r>
              <a:rPr lang="en-US" sz="1100" b="1" dirty="0">
                <a:solidFill>
                  <a:srgbClr val="64748B"/>
                </a:solidFill>
                <a:latin typeface="Calibri" pitchFamily="34" charset="0"/>
                <a:ea typeface="Calibri" pitchFamily="34" charset="-122"/>
                <a:cs typeface="Calibri" pitchFamily="34" charset="-120"/>
              </a:rPr>
              <a:t>SKILLS DEMONSTRATED</a:t>
            </a:r>
            <a:endParaRPr lang="en-US" sz="1100" dirty="0"/>
          </a:p>
        </p:txBody>
      </p:sp>
      <p:sp>
        <p:nvSpPr>
          <p:cNvPr id="31" name="Shape 24"/>
          <p:cNvSpPr/>
          <p:nvPr/>
        </p:nvSpPr>
        <p:spPr>
          <a:xfrm>
            <a:off x="731520" y="4206240"/>
            <a:ext cx="2011680" cy="365760"/>
          </a:xfrm>
          <a:prstGeom prst="roundRect">
            <a:avLst>
              <a:gd name="adj" fmla="val 25000"/>
            </a:avLst>
          </a:prstGeom>
          <a:solidFill>
            <a:srgbClr val="CCFBF1"/>
          </a:solidFill>
          <a:ln w="12700">
            <a:solidFill>
              <a:srgbClr val="CCFBF1"/>
            </a:solidFill>
            <a:prstDash val="solid"/>
          </a:ln>
        </p:spPr>
      </p:sp>
      <p:sp>
        <p:nvSpPr>
          <p:cNvPr id="32" name="Text 25"/>
          <p:cNvSpPr txBox="1"/>
          <p:nvPr/>
        </p:nvSpPr>
        <p:spPr>
          <a:xfrm>
            <a:off x="731520" y="4206240"/>
            <a:ext cx="2011680" cy="365760"/>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Data preprocessing</a:t>
            </a:r>
            <a:endParaRPr lang="en-US" sz="1100" dirty="0"/>
          </a:p>
        </p:txBody>
      </p:sp>
      <p:sp>
        <p:nvSpPr>
          <p:cNvPr id="33" name="Shape 26"/>
          <p:cNvSpPr/>
          <p:nvPr/>
        </p:nvSpPr>
        <p:spPr>
          <a:xfrm>
            <a:off x="2834640" y="4206240"/>
            <a:ext cx="2011680" cy="365760"/>
          </a:xfrm>
          <a:prstGeom prst="roundRect">
            <a:avLst>
              <a:gd name="adj" fmla="val 25000"/>
            </a:avLst>
          </a:prstGeom>
          <a:solidFill>
            <a:srgbClr val="DBEAFE"/>
          </a:solidFill>
          <a:ln w="12700">
            <a:solidFill>
              <a:srgbClr val="DBEAFE"/>
            </a:solidFill>
            <a:prstDash val="solid"/>
          </a:ln>
        </p:spPr>
      </p:sp>
      <p:sp>
        <p:nvSpPr>
          <p:cNvPr id="34" name="Text 27"/>
          <p:cNvSpPr txBox="1"/>
          <p:nvPr/>
        </p:nvSpPr>
        <p:spPr>
          <a:xfrm>
            <a:off x="2834640" y="4206240"/>
            <a:ext cx="2011680" cy="365760"/>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Exploratory data analysis</a:t>
            </a:r>
            <a:endParaRPr lang="en-US" sz="1100" dirty="0"/>
          </a:p>
        </p:txBody>
      </p:sp>
      <p:sp>
        <p:nvSpPr>
          <p:cNvPr id="35" name="Shape 28"/>
          <p:cNvSpPr/>
          <p:nvPr/>
        </p:nvSpPr>
        <p:spPr>
          <a:xfrm>
            <a:off x="4937760" y="4206240"/>
            <a:ext cx="2011680" cy="365760"/>
          </a:xfrm>
          <a:prstGeom prst="roundRect">
            <a:avLst>
              <a:gd name="adj" fmla="val 25000"/>
            </a:avLst>
          </a:prstGeom>
          <a:solidFill>
            <a:srgbClr val="CCFBF1"/>
          </a:solidFill>
          <a:ln w="12700">
            <a:solidFill>
              <a:srgbClr val="CCFBF1"/>
            </a:solidFill>
            <a:prstDash val="solid"/>
          </a:ln>
        </p:spPr>
      </p:sp>
      <p:sp>
        <p:nvSpPr>
          <p:cNvPr id="36" name="Text 29"/>
          <p:cNvSpPr txBox="1"/>
          <p:nvPr/>
        </p:nvSpPr>
        <p:spPr>
          <a:xfrm>
            <a:off x="4937760" y="4206240"/>
            <a:ext cx="2011680" cy="365760"/>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SQL querying and aggregation</a:t>
            </a:r>
            <a:endParaRPr lang="en-US" sz="1100" dirty="0"/>
          </a:p>
        </p:txBody>
      </p:sp>
      <p:sp>
        <p:nvSpPr>
          <p:cNvPr id="37" name="Shape 30"/>
          <p:cNvSpPr/>
          <p:nvPr/>
        </p:nvSpPr>
        <p:spPr>
          <a:xfrm>
            <a:off x="7040880" y="4206240"/>
            <a:ext cx="2011680" cy="365760"/>
          </a:xfrm>
          <a:prstGeom prst="roundRect">
            <a:avLst>
              <a:gd name="adj" fmla="val 25000"/>
            </a:avLst>
          </a:prstGeom>
          <a:solidFill>
            <a:srgbClr val="DBEAFE"/>
          </a:solidFill>
          <a:ln w="12700">
            <a:solidFill>
              <a:srgbClr val="DBEAFE"/>
            </a:solidFill>
            <a:prstDash val="solid"/>
          </a:ln>
        </p:spPr>
      </p:sp>
      <p:sp>
        <p:nvSpPr>
          <p:cNvPr id="38" name="Text 31"/>
          <p:cNvSpPr txBox="1"/>
          <p:nvPr/>
        </p:nvSpPr>
        <p:spPr>
          <a:xfrm>
            <a:off x="7040880" y="4206240"/>
            <a:ext cx="2011680" cy="365760"/>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Data visualization</a:t>
            </a:r>
            <a:endParaRPr lang="en-US" sz="1100" dirty="0"/>
          </a:p>
        </p:txBody>
      </p:sp>
      <p:sp>
        <p:nvSpPr>
          <p:cNvPr id="39" name="Shape 32"/>
          <p:cNvSpPr/>
          <p:nvPr/>
        </p:nvSpPr>
        <p:spPr>
          <a:xfrm>
            <a:off x="9144000" y="4206240"/>
            <a:ext cx="2011680" cy="365760"/>
          </a:xfrm>
          <a:prstGeom prst="roundRect">
            <a:avLst>
              <a:gd name="adj" fmla="val 25000"/>
            </a:avLst>
          </a:prstGeom>
          <a:solidFill>
            <a:srgbClr val="CCFBF1"/>
          </a:solidFill>
          <a:ln w="12700">
            <a:solidFill>
              <a:srgbClr val="CCFBF1"/>
            </a:solidFill>
            <a:prstDash val="solid"/>
          </a:ln>
        </p:spPr>
      </p:sp>
      <p:sp>
        <p:nvSpPr>
          <p:cNvPr id="40" name="Text 33"/>
          <p:cNvSpPr txBox="1"/>
          <p:nvPr/>
        </p:nvSpPr>
        <p:spPr>
          <a:xfrm>
            <a:off x="9144000" y="4206240"/>
            <a:ext cx="2011680" cy="365760"/>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Dashboard development</a:t>
            </a:r>
            <a:endParaRPr lang="en-US" sz="1100" dirty="0"/>
          </a:p>
        </p:txBody>
      </p:sp>
      <p:sp>
        <p:nvSpPr>
          <p:cNvPr id="41" name="Shape 34"/>
          <p:cNvSpPr/>
          <p:nvPr/>
        </p:nvSpPr>
        <p:spPr>
          <a:xfrm>
            <a:off x="548640" y="4846320"/>
            <a:ext cx="11091672" cy="868680"/>
          </a:xfrm>
          <a:prstGeom prst="roundRect">
            <a:avLst>
              <a:gd name="adj" fmla="val 10526"/>
            </a:avLst>
          </a:prstGeom>
          <a:solidFill>
            <a:srgbClr val="1D4ED8"/>
          </a:solidFill>
          <a:ln w="12700">
            <a:solidFill>
              <a:srgbClr val="1D4ED8"/>
            </a:solidFill>
            <a:prstDash val="solid"/>
          </a:ln>
          <a:effectLst>
            <a:outerShdw sx="100000" sy="100000" kx="0" ky="0" algn="bl" rotWithShape="0" blurRad="76200" dist="25400" dir="5400000">
              <a:srgbClr val="0F172A">
                <a:alpha val="12000"/>
              </a:srgbClr>
            </a:outerShdw>
          </a:effectLst>
        </p:spPr>
      </p:sp>
      <p:sp>
        <p:nvSpPr>
          <p:cNvPr id="42" name="Text 35"/>
          <p:cNvSpPr txBox="1"/>
          <p:nvPr/>
        </p:nvSpPr>
        <p:spPr>
          <a:xfrm>
            <a:off x="822960" y="4846320"/>
            <a:ext cx="10515600" cy="8686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Conclusion  </a:t>
            </a:r>
            <a:pPr indent="0" marL="0">
              <a:buNone/>
            </a:pPr>
            <a:r>
              <a:rPr lang="en-US" sz="1600" dirty="0">
                <a:solidFill>
                  <a:srgbClr val="FFFFFF"/>
                </a:solidFill>
                <a:latin typeface="Calibri" pitchFamily="34" charset="0"/>
                <a:ea typeface="Calibri" pitchFamily="34" charset="-122"/>
                <a:cs typeface="Calibri" pitchFamily="34" charset="-120"/>
              </a:rPr>
              <a:t>The project demonstrates an end-to-end data analytics workflow, from raw data preparation to analytical visualization and interactive reporting.</a:t>
            </a:r>
            <a:endParaRPr lang="en-US" sz="1600" dirty="0"/>
          </a:p>
        </p:txBody>
      </p:sp>
      <p:sp>
        <p:nvSpPr>
          <p:cNvPr id="43" name="Shape 36"/>
          <p:cNvSpPr/>
          <p:nvPr/>
        </p:nvSpPr>
        <p:spPr>
          <a:xfrm>
            <a:off x="548640" y="5897880"/>
            <a:ext cx="1998878" cy="384048"/>
          </a:xfrm>
          <a:prstGeom prst="roundRect">
            <a:avLst>
              <a:gd name="adj" fmla="val 23810"/>
            </a:avLst>
          </a:prstGeom>
          <a:solidFill>
            <a:srgbClr val="14B8A6"/>
          </a:solidFill>
          <a:ln w="9525">
            <a:solidFill>
              <a:srgbClr val="14B8A6"/>
            </a:solidFill>
            <a:prstDash val="solid"/>
          </a:ln>
        </p:spPr>
      </p:sp>
      <p:sp>
        <p:nvSpPr>
          <p:cNvPr id="44" name="Text 37"/>
          <p:cNvSpPr txBox="1"/>
          <p:nvPr/>
        </p:nvSpPr>
        <p:spPr>
          <a:xfrm>
            <a:off x="548640" y="5897880"/>
            <a:ext cx="1998878" cy="384048"/>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abhiva_dataset.csv</a:t>
            </a:r>
            <a:endParaRPr lang="en-US" sz="1100" dirty="0"/>
          </a:p>
        </p:txBody>
      </p:sp>
      <p:sp>
        <p:nvSpPr>
          <p:cNvPr id="45" name="Shape 38"/>
          <p:cNvSpPr/>
          <p:nvPr/>
        </p:nvSpPr>
        <p:spPr>
          <a:xfrm>
            <a:off x="2584094" y="5989320"/>
            <a:ext cx="201168" cy="201168"/>
          </a:xfrm>
          <a:prstGeom prst="rightArrow">
            <a:avLst/>
          </a:prstGeom>
          <a:solidFill>
            <a:srgbClr val="64748B"/>
          </a:solidFill>
          <a:ln w="12700">
            <a:solidFill>
              <a:srgbClr val="64748B"/>
            </a:solidFill>
            <a:prstDash val="solid"/>
          </a:ln>
        </p:spPr>
      </p:sp>
      <p:sp>
        <p:nvSpPr>
          <p:cNvPr id="46" name="Shape 39"/>
          <p:cNvSpPr/>
          <p:nvPr/>
        </p:nvSpPr>
        <p:spPr>
          <a:xfrm>
            <a:off x="2821838" y="5897880"/>
            <a:ext cx="1998878" cy="384048"/>
          </a:xfrm>
          <a:prstGeom prst="roundRect">
            <a:avLst>
              <a:gd name="adj" fmla="val 23810"/>
            </a:avLst>
          </a:prstGeom>
          <a:solidFill>
            <a:srgbClr val="14B8A6"/>
          </a:solidFill>
          <a:ln w="9525">
            <a:solidFill>
              <a:srgbClr val="14B8A6"/>
            </a:solidFill>
            <a:prstDash val="solid"/>
          </a:ln>
        </p:spPr>
      </p:sp>
      <p:sp>
        <p:nvSpPr>
          <p:cNvPr id="47" name="Text 40"/>
          <p:cNvSpPr txBox="1"/>
          <p:nvPr/>
        </p:nvSpPr>
        <p:spPr>
          <a:xfrm>
            <a:off x="2821838" y="5897880"/>
            <a:ext cx="1998878" cy="384048"/>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Python cleaning</a:t>
            </a:r>
            <a:endParaRPr lang="en-US" sz="1100" dirty="0"/>
          </a:p>
        </p:txBody>
      </p:sp>
      <p:sp>
        <p:nvSpPr>
          <p:cNvPr id="48" name="Shape 41"/>
          <p:cNvSpPr/>
          <p:nvPr/>
        </p:nvSpPr>
        <p:spPr>
          <a:xfrm>
            <a:off x="4857293" y="5989320"/>
            <a:ext cx="201168" cy="201168"/>
          </a:xfrm>
          <a:prstGeom prst="rightArrow">
            <a:avLst/>
          </a:prstGeom>
          <a:solidFill>
            <a:srgbClr val="64748B"/>
          </a:solidFill>
          <a:ln w="12700">
            <a:solidFill>
              <a:srgbClr val="64748B"/>
            </a:solidFill>
            <a:prstDash val="solid"/>
          </a:ln>
        </p:spPr>
      </p:sp>
      <p:sp>
        <p:nvSpPr>
          <p:cNvPr id="49" name="Shape 42"/>
          <p:cNvSpPr/>
          <p:nvPr/>
        </p:nvSpPr>
        <p:spPr>
          <a:xfrm>
            <a:off x="5095037" y="5897880"/>
            <a:ext cx="1998878" cy="384048"/>
          </a:xfrm>
          <a:prstGeom prst="roundRect">
            <a:avLst>
              <a:gd name="adj" fmla="val 23810"/>
            </a:avLst>
          </a:prstGeom>
          <a:solidFill>
            <a:srgbClr val="14B8A6"/>
          </a:solidFill>
          <a:ln w="9525">
            <a:solidFill>
              <a:srgbClr val="14B8A6"/>
            </a:solidFill>
            <a:prstDash val="solid"/>
          </a:ln>
        </p:spPr>
      </p:sp>
      <p:sp>
        <p:nvSpPr>
          <p:cNvPr id="50" name="Text 43"/>
          <p:cNvSpPr txBox="1"/>
          <p:nvPr/>
        </p:nvSpPr>
        <p:spPr>
          <a:xfrm>
            <a:off x="5095037" y="5897880"/>
            <a:ext cx="1998878" cy="384048"/>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cleaned_data.csv</a:t>
            </a:r>
            <a:endParaRPr lang="en-US" sz="1100" dirty="0"/>
          </a:p>
        </p:txBody>
      </p:sp>
      <p:sp>
        <p:nvSpPr>
          <p:cNvPr id="51" name="Shape 44"/>
          <p:cNvSpPr/>
          <p:nvPr/>
        </p:nvSpPr>
        <p:spPr>
          <a:xfrm>
            <a:off x="7130491" y="5989320"/>
            <a:ext cx="201168" cy="201168"/>
          </a:xfrm>
          <a:prstGeom prst="rightArrow">
            <a:avLst/>
          </a:prstGeom>
          <a:solidFill>
            <a:srgbClr val="64748B"/>
          </a:solidFill>
          <a:ln w="12700">
            <a:solidFill>
              <a:srgbClr val="64748B"/>
            </a:solidFill>
            <a:prstDash val="solid"/>
          </a:ln>
        </p:spPr>
      </p:sp>
      <p:sp>
        <p:nvSpPr>
          <p:cNvPr id="52" name="Shape 45"/>
          <p:cNvSpPr/>
          <p:nvPr/>
        </p:nvSpPr>
        <p:spPr>
          <a:xfrm>
            <a:off x="7368235" y="5897880"/>
            <a:ext cx="1998878" cy="384048"/>
          </a:xfrm>
          <a:prstGeom prst="roundRect">
            <a:avLst>
              <a:gd name="adj" fmla="val 23810"/>
            </a:avLst>
          </a:prstGeom>
          <a:solidFill>
            <a:srgbClr val="14B8A6"/>
          </a:solidFill>
          <a:ln w="9525">
            <a:solidFill>
              <a:srgbClr val="14B8A6"/>
            </a:solidFill>
            <a:prstDash val="solid"/>
          </a:ln>
        </p:spPr>
      </p:sp>
      <p:sp>
        <p:nvSpPr>
          <p:cNvPr id="53" name="Text 46"/>
          <p:cNvSpPr txBox="1"/>
          <p:nvPr/>
        </p:nvSpPr>
        <p:spPr>
          <a:xfrm>
            <a:off x="7368235" y="5897880"/>
            <a:ext cx="1998878" cy="384048"/>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MySQL analysis</a:t>
            </a:r>
            <a:endParaRPr lang="en-US" sz="1100" dirty="0"/>
          </a:p>
        </p:txBody>
      </p:sp>
      <p:sp>
        <p:nvSpPr>
          <p:cNvPr id="54" name="Shape 47"/>
          <p:cNvSpPr/>
          <p:nvPr/>
        </p:nvSpPr>
        <p:spPr>
          <a:xfrm>
            <a:off x="9403690" y="5989320"/>
            <a:ext cx="201168" cy="201168"/>
          </a:xfrm>
          <a:prstGeom prst="rightArrow">
            <a:avLst/>
          </a:prstGeom>
          <a:solidFill>
            <a:srgbClr val="64748B"/>
          </a:solidFill>
          <a:ln w="12700">
            <a:solidFill>
              <a:srgbClr val="64748B"/>
            </a:solidFill>
            <a:prstDash val="solid"/>
          </a:ln>
        </p:spPr>
      </p:sp>
      <p:sp>
        <p:nvSpPr>
          <p:cNvPr id="55" name="Shape 48"/>
          <p:cNvSpPr/>
          <p:nvPr/>
        </p:nvSpPr>
        <p:spPr>
          <a:xfrm>
            <a:off x="9641434" y="5897880"/>
            <a:ext cx="1998878" cy="384048"/>
          </a:xfrm>
          <a:prstGeom prst="roundRect">
            <a:avLst>
              <a:gd name="adj" fmla="val 23810"/>
            </a:avLst>
          </a:prstGeom>
          <a:solidFill>
            <a:srgbClr val="14B8A6"/>
          </a:solidFill>
          <a:ln w="9525">
            <a:solidFill>
              <a:srgbClr val="14B8A6"/>
            </a:solidFill>
            <a:prstDash val="solid"/>
          </a:ln>
        </p:spPr>
      </p:sp>
      <p:sp>
        <p:nvSpPr>
          <p:cNvPr id="56" name="Text 49"/>
          <p:cNvSpPr txBox="1"/>
          <p:nvPr/>
        </p:nvSpPr>
        <p:spPr>
          <a:xfrm>
            <a:off x="9641434" y="5897880"/>
            <a:ext cx="1998878" cy="384048"/>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Power BI dashboard</a:t>
            </a:r>
            <a:endParaRPr lang="en-US" sz="1100" dirty="0"/>
          </a:p>
        </p:txBody>
      </p:sp>
      <p:sp>
        <p:nvSpPr>
          <p:cNvPr id="25" name="Slide Number Placeholder 0"/>
          <p:cNvSpPr>
            <a:spLocks noGrp="1"/>
          </p:cNvSpPr>
          <p:nvPr>
            <p:ph type="sldNum" sz="quarter" idx="4294967295"/>
          </p:nvPr>
        </p:nvSpPr>
        <p:spPr>
          <a:xfrm>
            <a:off x="11155680" y="6419088"/>
            <a:ext cx="48463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 Performance and Assessment Analysis</dc:title>
  <dc:subject>PptxGenJS Presentation</dc:subject>
  <dc:creator>PptxGenJS</dc:creator>
  <cp:lastModifiedBy>PptxGenJS</cp:lastModifiedBy>
  <cp:revision>1</cp:revision>
  <dcterms:created xsi:type="dcterms:W3CDTF">2026-10-22T05:12:35Z</dcterms:created>
  <dcterms:modified xsi:type="dcterms:W3CDTF">2026-10-22T05:12:35Z</dcterms:modified>
</cp:coreProperties>
</file>